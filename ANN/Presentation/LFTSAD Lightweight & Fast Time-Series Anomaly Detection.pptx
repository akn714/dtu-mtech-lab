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summary: the authors built a tiny anomaly detector for factory sensor data, made of just four small neural networks, that runs on a Raspberry Pi and still matches big deep-learning models. TSAD = Time-Series Anomaly Detection: spotting abnormal readings in sensor data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Plain-English story: sensors in a factory send data constantly. Cloud servers are powerful but add delay, so companies want detection on small devices near the machines (the edge). Existing accurate models are big. Gaps: (1) nobody had built a model from only shallow (two-layer) MLPs for this task, (2) the accurate scoring method (association discrepancy from Anomaly Transformer) is expensive, (3) small networks struggle with anomalies that are partly normal-looking (called implicit outliers).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paper. Imagine guessing today's temperature from the last few hours (local) and from the same hour on previous days (global). If it is a normal day, both guesses agree. If something strange happens, the two guesses disagree. The paper replaces the costly 'association' calculation of Anomaly Transformer with this much cheaper trick: just compare two reconstructions. Training uses only normal-looking (unlabeled) data, so it is unsupervised.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Data goes into two branches that run in parallel. Each branch has two tiny networks with one hidden layer (two fully connected layers). The score is a weighted mix controlled by α (alpha, 0 to 1): α=1 uses only the point-level score, α=0 only the sequence-level score. If the final score is above a threshold λ (lambda), that timestamp is flagged. Complexity is roughly linear in the series length, which is why it is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Reasoning for having both branches: an anomaly lasts several timestamps. Some of its points are obviously odd (explicit), others look almost normal when viewed alone (implicit). Point-level catches the first, sequence-level the second. The grid on the left is how neighbors are chosen cheaply: reshape a window of length WIN into P1 x P2, then row-mates are local neighbors and column-mates are global neighbors. The paper's ablation (Table VI) shows combining both gives the best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Setup: 14 public datasets (8 multivariate such as MSL, SMD, SWAT, WADI; 6 univariate such as ECG, UCR), 16 baseline models, 8 metrics (Accuracy, Precision, Recall, F1 variants, Affiliation-F1, VUS-ROC, VUS-PR). Tested on a PC, a Jetson Xavier NX and a Raspberry Pi 4b. Everything except PatchAD ran on the Pi. Honest caveat from the paper: accuracy is comparable or better on many metrics, but plain pointwise F1 is weaker. Also note the paper states 12.6K parameters in Table V but '126 K' in the discussion, so use 12.6K from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contribution is a design pattern, not a bigger model. Likely faculty questions. Why unsupervised? Anomaly labels are rare. Why MLPs? Simple, fast, parallel. How is the threshold chosen? It is a preset value λ between 0 and 1. What is the evaluation weakness? Benchmarks like these are sensitive to the metric used, and the paper itself admits weaker plain 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61440"/>
            <a:ext cx="10566400" cy="468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61440"/>
            <a:ext cx="10566400" cy="468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9224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D6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RESEARCH PAPER REVIEW · IEEE TNNLS 2025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87546"/>
            <a:ext cx="10883392" cy="1177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36"/>
              </a:lnSpc>
              <a:buNone/>
            </a:pPr>
            <a:r>
              <a:rPr lang="en-US" sz="4200" b="1" i="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LFTSAD: Lightweight and Fast Time-Series Anomaly Detection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968195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1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Using point-level and sequence-level reconstruction discrepancy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51683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C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 Chen, Jiajun Tang, Ying Zou, Xuxin Liu, Xingquan Xie, Guangyang Deng · Hunan University of Science and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paper exists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285240"/>
            <a:ext cx="3403600" cy="2671445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285240"/>
            <a:ext cx="3403600" cy="2671445"/>
          </a:xfrm>
          <a:custGeom>
            <a:avLst/>
            <a:gdLst/>
            <a:ahLst/>
            <a:cxnLst/>
            <a:rect l="l" t="t" r="r" b="b"/>
            <a:pathLst>
              <a:path w="3403600" h="267144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564640"/>
            <a:ext cx="30347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74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1927860"/>
            <a:ext cx="3034792" cy="182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Factories (Industry 4.0) stream sensor data. Anomalies must be caught in real time, on small edge devices such as a Raspberry Pi 4b (2 GB RAM). Deep models (Transformers, RNNs, CNNs) are too heavy and slow.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94200" y="1285240"/>
            <a:ext cx="3403600" cy="2671445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394200" y="1285240"/>
            <a:ext cx="3403600" cy="2671445"/>
          </a:xfrm>
          <a:custGeom>
            <a:avLst/>
            <a:gdLst/>
            <a:ahLst/>
            <a:cxnLst/>
            <a:rect l="l" t="t" r="r" b="b"/>
            <a:pathLst>
              <a:path w="3403600" h="267144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F6FDB"/>
          </a:solidFill>
          <a:ln/>
        </p:spPr>
      </p:sp>
      <p:sp>
        <p:nvSpPr>
          <p:cNvPr id="9" name="Text 7"/>
          <p:cNvSpPr/>
          <p:nvPr/>
        </p:nvSpPr>
        <p:spPr>
          <a:xfrm>
            <a:off x="4622800" y="1564640"/>
            <a:ext cx="30347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6FD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exists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22800" y="1927860"/>
            <a:ext cx="3034792" cy="182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Anomaly Transformer and DCdetector are accurate, but compute costly "association" scores. Pruning or parallelism still keeps deep models. USAD and PatchAD use MLPs but are still deep.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75600" y="1285240"/>
            <a:ext cx="3403600" cy="2671445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75600" y="1285240"/>
            <a:ext cx="3403600" cy="2671445"/>
          </a:xfrm>
          <a:custGeom>
            <a:avLst/>
            <a:gdLst/>
            <a:ahLst/>
            <a:cxnLst/>
            <a:rect l="l" t="t" r="r" b="b"/>
            <a:pathLst>
              <a:path w="3403600" h="267144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F9D8A"/>
          </a:solidFill>
          <a:ln/>
        </p:spPr>
      </p:sp>
      <p:sp>
        <p:nvSpPr>
          <p:cNvPr id="13" name="Text 11"/>
          <p:cNvSpPr/>
          <p:nvPr/>
        </p:nvSpPr>
        <p:spPr>
          <a:xfrm>
            <a:off x="8204200" y="1564640"/>
            <a:ext cx="30347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9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Research gaps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62620" y="1927860"/>
            <a:ext cx="2969514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shallow all-MLP detector built for edge devices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Association scoring is too expensive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Shallow nets miss subtle anomalies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idea: can the neighbors predict me?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285241"/>
            <a:ext cx="10883392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Both networks try to rebuild the same timestamp. A normal point agrees with nearby and with distant, periodic points, so both guesses match. An anomaly only fits its own odd neighbors, so the guesses disagree.</a:t>
            </a:r>
            <a:endParaRPr lang="en-US" sz="1600" dirty="0"/>
          </a:p>
        </p:txBody>
      </p:sp>
      <p:pic>
        <p:nvPicPr>
          <p:cNvPr id="4" name="Image 0" descr="Two small networks guess the same point from local and from global neighbors; a big disagreement means anomaly">    </p:cNvPr>
          <p:cNvPicPr>
            <a:picLocks noChangeAspect="1"/>
          </p:cNvPicPr>
          <p:nvPr/>
        </p:nvPicPr>
        <p:blipFill>
          <a:blip r:embed="rId1"/>
          <a:srcRect l="-7" r="-7" t="0" b="0"/>
          <a:stretch/>
        </p:blipFill>
        <p:spPr>
          <a:xfrm>
            <a:off x="812800" y="2062480"/>
            <a:ext cx="105664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it works: four two-layer MLPs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97355"/>
            <a:ext cx="1651000" cy="188468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900555"/>
            <a:ext cx="14478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Sensor data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16000" y="2223136"/>
            <a:ext cx="12954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C9D1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Windows of the time series. Each variable is processed in parallel.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16200" y="2390775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124200" y="1285241"/>
            <a:ext cx="5054600" cy="1398270"/>
          </a:xfrm>
          <a:prstGeom prst="roundRect">
            <a:avLst>
              <a:gd name="adj" fmla="val 545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124200" y="1285241"/>
            <a:ext cx="5054600" cy="1398270"/>
          </a:xfrm>
          <a:custGeom>
            <a:avLst/>
            <a:gdLst/>
            <a:ahLst/>
            <a:cxnLst/>
            <a:rect l="l" t="t" r="r" b="b"/>
            <a:pathLst>
              <a:path w="5054600" h="1398270">
                <a:moveTo>
                  <a:pt x="76200" y="1398270"/>
                </a:moveTo>
                <a:lnTo>
                  <a:pt x="76200" y="139827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12700" stAng="16200000" swAng="-5400000"/>
                <a:lnTo>
                  <a:pt x="63500" y="1322070"/>
                </a:lnTo>
                <a:arcTo hR="76200" wR="12700" stAng="10800000" swAng="-5400000"/>
                <a:close/>
              </a:path>
            </a:pathLst>
          </a:custGeom>
          <a:solidFill>
            <a:srgbClr val="2F6FDB"/>
          </a:solidFill>
          <a:ln/>
        </p:spPr>
      </p:sp>
      <p:sp>
        <p:nvSpPr>
          <p:cNvPr id="9" name="Text 7"/>
          <p:cNvSpPr/>
          <p:nvPr/>
        </p:nvSpPr>
        <p:spPr>
          <a:xfrm>
            <a:off x="3362960" y="1463041"/>
            <a:ext cx="477718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6FD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Point-level branch (MLP 1 and 2)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62960" y="1785620"/>
            <a:ext cx="4777181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MLP 1 rebuilds a point from its local neighbors. MLP 2 rebuilds it from global neighbors. Score P is their difference.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24200" y="2835911"/>
            <a:ext cx="5054600" cy="11582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124200" y="2835911"/>
            <a:ext cx="5054600" cy="1158240"/>
          </a:xfrm>
          <a:custGeom>
            <a:avLst/>
            <a:gdLst/>
            <a:ahLst/>
            <a:cxnLst/>
            <a:rect l="l" t="t" r="r" b="b"/>
            <a:pathLst>
              <a:path w="5054600" h="1158240">
                <a:moveTo>
                  <a:pt x="76200" y="1158240"/>
                </a:moveTo>
                <a:lnTo>
                  <a:pt x="76200" y="115824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12700" stAng="16200000" swAng="-5400000"/>
                <a:lnTo>
                  <a:pt x="63500" y="1082040"/>
                </a:lnTo>
                <a:arcTo hR="76200" wR="12700" stAng="108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13" name="Text 11"/>
          <p:cNvSpPr/>
          <p:nvPr/>
        </p:nvSpPr>
        <p:spPr>
          <a:xfrm>
            <a:off x="3362960" y="3013711"/>
            <a:ext cx="477718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74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Sequence-level branch (MLP 3 and 4)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62960" y="3336291"/>
            <a:ext cx="477718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trick for short sub-sequences instead of single points. Score S is their difference.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1200" y="2390775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839200" y="1735455"/>
            <a:ext cx="2540000" cy="1808480"/>
          </a:xfrm>
          <a:prstGeom prst="roundRect">
            <a:avLst>
              <a:gd name="adj" fmla="val 5618"/>
            </a:avLst>
          </a:prstGeom>
          <a:solidFill>
            <a:srgbClr val="0F9D8A"/>
          </a:solidFill>
          <a:ln/>
        </p:spPr>
      </p:sp>
      <p:sp>
        <p:nvSpPr>
          <p:cNvPr id="17" name="Text 15"/>
          <p:cNvSpPr/>
          <p:nvPr/>
        </p:nvSpPr>
        <p:spPr>
          <a:xfrm>
            <a:off x="9042400" y="1938655"/>
            <a:ext cx="21976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score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42400" y="2273936"/>
            <a:ext cx="2197608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α·Score P + (1−α)·Score 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42400" y="2878455"/>
            <a:ext cx="219760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Score ≥ threshold λ means anomaly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4222750"/>
            <a:ext cx="108833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Training: the loss (MSE) pulls the two guesses together on normal data. At test time, disagreement means anomaly. Only about 12.6K parameters.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two levels? Explicit vs implicit anomalies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285239"/>
            <a:ext cx="3302000" cy="3779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488439"/>
            <a:ext cx="234629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Neighbor sampling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16000" y="1861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1861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7" name="Shape 5"/>
          <p:cNvSpPr/>
          <p:nvPr/>
        </p:nvSpPr>
        <p:spPr>
          <a:xfrm>
            <a:off x="2032000" y="1861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F6C6AE"/>
          </a:solidFill>
          <a:ln/>
        </p:spPr>
      </p:sp>
      <p:sp>
        <p:nvSpPr>
          <p:cNvPr id="8" name="Shape 6"/>
          <p:cNvSpPr/>
          <p:nvPr/>
        </p:nvSpPr>
        <p:spPr>
          <a:xfrm>
            <a:off x="2540000" y="1861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9" name="Shape 7"/>
          <p:cNvSpPr/>
          <p:nvPr/>
        </p:nvSpPr>
        <p:spPr>
          <a:xfrm>
            <a:off x="3048000" y="1861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2369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BCD3F7"/>
          </a:solidFill>
          <a:ln/>
        </p:spPr>
      </p:sp>
      <p:sp>
        <p:nvSpPr>
          <p:cNvPr id="11" name="Shape 9"/>
          <p:cNvSpPr/>
          <p:nvPr/>
        </p:nvSpPr>
        <p:spPr>
          <a:xfrm>
            <a:off x="1524000" y="2369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BCD3F7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2000" y="2369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D6336C"/>
          </a:solidFill>
          <a:ln/>
        </p:spPr>
      </p:sp>
      <p:sp>
        <p:nvSpPr>
          <p:cNvPr id="13" name="Shape 11"/>
          <p:cNvSpPr/>
          <p:nvPr/>
        </p:nvSpPr>
        <p:spPr>
          <a:xfrm>
            <a:off x="2540000" y="2369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BCD3F7"/>
          </a:solidFill>
          <a:ln/>
        </p:spPr>
      </p:sp>
      <p:sp>
        <p:nvSpPr>
          <p:cNvPr id="14" name="Shape 12"/>
          <p:cNvSpPr/>
          <p:nvPr/>
        </p:nvSpPr>
        <p:spPr>
          <a:xfrm>
            <a:off x="3048000" y="2369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BCD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877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16" name="Shape 14"/>
          <p:cNvSpPr/>
          <p:nvPr/>
        </p:nvSpPr>
        <p:spPr>
          <a:xfrm>
            <a:off x="1524000" y="2877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17" name="Shape 15"/>
          <p:cNvSpPr/>
          <p:nvPr/>
        </p:nvSpPr>
        <p:spPr>
          <a:xfrm>
            <a:off x="2032000" y="2877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F6C6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540000" y="2877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19" name="Shape 17"/>
          <p:cNvSpPr/>
          <p:nvPr/>
        </p:nvSpPr>
        <p:spPr>
          <a:xfrm>
            <a:off x="3048000" y="2877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3385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3385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32000" y="3385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F6C6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540000" y="3385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24" name="Shape 22"/>
          <p:cNvSpPr/>
          <p:nvPr/>
        </p:nvSpPr>
        <p:spPr>
          <a:xfrm>
            <a:off x="3048000" y="338582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CE8DF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3957321"/>
            <a:ext cx="2982468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window is cut into a grid. Same row (blue) = local neighbors. Same column (orange) = global neighbors. Red = the point being tested.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68800" y="1285239"/>
            <a:ext cx="7010400" cy="11582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368800" y="1285239"/>
            <a:ext cx="7010400" cy="1158240"/>
          </a:xfrm>
          <a:custGeom>
            <a:avLst/>
            <a:gdLst/>
            <a:ahLst/>
            <a:cxnLst/>
            <a:rect l="l" t="t" r="r" b="b"/>
            <a:pathLst>
              <a:path w="7010400" h="1158240">
                <a:moveTo>
                  <a:pt x="76200" y="1158240"/>
                </a:moveTo>
                <a:lnTo>
                  <a:pt x="76200" y="115824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12700" stAng="16200000" swAng="-5400000"/>
                <a:lnTo>
                  <a:pt x="63500" y="1082040"/>
                </a:lnTo>
                <a:arcTo hR="76200" wR="12700" stAng="10800000" swAng="-5400000"/>
                <a:close/>
              </a:path>
            </a:pathLst>
          </a:custGeom>
          <a:solidFill>
            <a:srgbClr val="2F6FDB"/>
          </a:solidFill>
          <a:ln/>
        </p:spPr>
      </p:sp>
      <p:sp>
        <p:nvSpPr>
          <p:cNvPr id="28" name="Text 26"/>
          <p:cNvSpPr/>
          <p:nvPr/>
        </p:nvSpPr>
        <p:spPr>
          <a:xfrm>
            <a:off x="4607560" y="1463039"/>
            <a:ext cx="67916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F6FD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Explicit outlier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07560" y="1785621"/>
            <a:ext cx="679165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anomalous point clearly differs from its neighbors. Point-level learning catches these well.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800" y="2595882"/>
            <a:ext cx="7010400" cy="11582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368800" y="2595882"/>
            <a:ext cx="7010400" cy="1158240"/>
          </a:xfrm>
          <a:custGeom>
            <a:avLst/>
            <a:gdLst/>
            <a:ahLst/>
            <a:cxnLst/>
            <a:rect l="l" t="t" r="r" b="b"/>
            <a:pathLst>
              <a:path w="7010400" h="1158240">
                <a:moveTo>
                  <a:pt x="76200" y="1158240"/>
                </a:moveTo>
                <a:lnTo>
                  <a:pt x="76200" y="115824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12700" stAng="16200000" swAng="-5400000"/>
                <a:lnTo>
                  <a:pt x="63500" y="1082040"/>
                </a:lnTo>
                <a:arcTo hR="76200" wR="12700" stAng="108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32" name="Text 30"/>
          <p:cNvSpPr/>
          <p:nvPr/>
        </p:nvSpPr>
        <p:spPr>
          <a:xfrm>
            <a:off x="4607560" y="2773682"/>
            <a:ext cx="67916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74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Implicit outlier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607560" y="3096261"/>
            <a:ext cx="679165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Some anomalous points look normal alone. Looking at a whole sub-sequence around the point exposes them. Sequence-level learning catches these.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68800" y="3906521"/>
            <a:ext cx="7010400" cy="11582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368800" y="3906521"/>
            <a:ext cx="7010400" cy="1158240"/>
          </a:xfrm>
          <a:custGeom>
            <a:avLst/>
            <a:gdLst/>
            <a:ahLst/>
            <a:cxnLst/>
            <a:rect l="l" t="t" r="r" b="b"/>
            <a:pathLst>
              <a:path w="7010400" h="1158240">
                <a:moveTo>
                  <a:pt x="76200" y="1158240"/>
                </a:moveTo>
                <a:lnTo>
                  <a:pt x="76200" y="115824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12700" stAng="16200000" swAng="-5400000"/>
                <a:lnTo>
                  <a:pt x="63500" y="1082040"/>
                </a:lnTo>
                <a:arcTo hR="76200" wR="12700" stAng="10800000" swAng="-5400000"/>
                <a:close/>
              </a:path>
            </a:pathLst>
          </a:custGeom>
          <a:solidFill>
            <a:srgbClr val="0F9D8A"/>
          </a:solidFill>
          <a:ln/>
        </p:spPr>
      </p:sp>
      <p:sp>
        <p:nvSpPr>
          <p:cNvPr id="36" name="Text 34"/>
          <p:cNvSpPr/>
          <p:nvPr/>
        </p:nvSpPr>
        <p:spPr>
          <a:xfrm>
            <a:off x="4607560" y="4084321"/>
            <a:ext cx="67916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9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Together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607560" y="4406900"/>
            <a:ext cx="679165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Joint learning beat either branch alone on every ablation dataset and metric reported.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Results: smaller, faster, comparably accurate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285239"/>
            <a:ext cx="10566400" cy="2189480"/>
          </a:xfrm>
          <a:prstGeom prst="roundRect">
            <a:avLst>
              <a:gd name="adj" fmla="val 464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488439"/>
            <a:ext cx="104648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Training time for one epoch on a PC (seconds)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16000" y="1931671"/>
            <a:ext cx="1257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LFTSAD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49500" y="1874521"/>
            <a:ext cx="698500" cy="381000"/>
          </a:xfrm>
          <a:prstGeom prst="roundRect">
            <a:avLst>
              <a:gd name="adj" fmla="val 16667"/>
            </a:avLst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3175000" y="1931671"/>
            <a:ext cx="6356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26.5 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2439671"/>
            <a:ext cx="1257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DTAAD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49500" y="2382521"/>
            <a:ext cx="3810000" cy="381000"/>
          </a:xfrm>
          <a:prstGeom prst="roundRect">
            <a:avLst>
              <a:gd name="adj" fmla="val 16667"/>
            </a:avLst>
          </a:prstGeom>
          <a:solidFill>
            <a:srgbClr val="9AA6C2"/>
          </a:solidFill>
          <a:ln/>
        </p:spPr>
      </p:sp>
      <p:sp>
        <p:nvSpPr>
          <p:cNvPr id="10" name="Text 8"/>
          <p:cNvSpPr/>
          <p:nvPr/>
        </p:nvSpPr>
        <p:spPr>
          <a:xfrm>
            <a:off x="6286500" y="2439671"/>
            <a:ext cx="5720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148 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6000" y="2947671"/>
            <a:ext cx="1257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DCdetector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49500" y="2890521"/>
            <a:ext cx="6350000" cy="381000"/>
          </a:xfrm>
          <a:prstGeom prst="roundRect">
            <a:avLst>
              <a:gd name="adj" fmla="val 16667"/>
            </a:avLst>
          </a:prstGeom>
          <a:solidFill>
            <a:srgbClr val="9AA6C2"/>
          </a:solidFill>
          <a:ln/>
        </p:spPr>
      </p:sp>
      <p:sp>
        <p:nvSpPr>
          <p:cNvPr id="13" name="Text 11"/>
          <p:cNvSpPr/>
          <p:nvPr/>
        </p:nvSpPr>
        <p:spPr>
          <a:xfrm>
            <a:off x="8826500" y="2947671"/>
            <a:ext cx="7627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271.8 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800" y="3703321"/>
            <a:ext cx="2527300" cy="1329690"/>
          </a:xfrm>
          <a:prstGeom prst="roundRect">
            <a:avLst>
              <a:gd name="adj" fmla="val 7641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800" y="3703321"/>
            <a:ext cx="2527300" cy="1329690"/>
          </a:xfrm>
          <a:custGeom>
            <a:avLst/>
            <a:gdLst/>
            <a:ahLst/>
            <a:cxnLst/>
            <a:rect l="l" t="t" r="r" b="b"/>
            <a:pathLst>
              <a:path w="2527300" h="132969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F9D8A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3931921"/>
            <a:ext cx="22368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0F9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12.6K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90600" y="4409439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parameters vs 4,741K for Anomaly Transformer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92500" y="3703321"/>
            <a:ext cx="2527300" cy="1329690"/>
          </a:xfrm>
          <a:prstGeom prst="roundRect">
            <a:avLst>
              <a:gd name="adj" fmla="val 7641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492500" y="3703321"/>
            <a:ext cx="2527300" cy="1329690"/>
          </a:xfrm>
          <a:custGeom>
            <a:avLst/>
            <a:gdLst/>
            <a:ahLst/>
            <a:cxnLst/>
            <a:rect l="l" t="t" r="r" b="b"/>
            <a:pathLst>
              <a:path w="2527300" h="132969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F6FDB"/>
          </a:solidFill>
          <a:ln/>
        </p:spPr>
      </p:sp>
      <p:sp>
        <p:nvSpPr>
          <p:cNvPr id="20" name="Text 18"/>
          <p:cNvSpPr/>
          <p:nvPr/>
        </p:nvSpPr>
        <p:spPr>
          <a:xfrm>
            <a:off x="3670300" y="3931921"/>
            <a:ext cx="22368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2F6FD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185 MB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670300" y="4409439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RAM on Raspberry Pi 4b vs 402 MB for DCdetector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703321"/>
            <a:ext cx="2527300" cy="1329690"/>
          </a:xfrm>
          <a:prstGeom prst="roundRect">
            <a:avLst>
              <a:gd name="adj" fmla="val 7641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3703321"/>
            <a:ext cx="2527300" cy="1329690"/>
          </a:xfrm>
          <a:custGeom>
            <a:avLst/>
            <a:gdLst/>
            <a:ahLst/>
            <a:cxnLst/>
            <a:rect l="l" t="t" r="r" b="b"/>
            <a:pathLst>
              <a:path w="2527300" h="132969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24" name="Text 22"/>
          <p:cNvSpPr/>
          <p:nvPr/>
        </p:nvSpPr>
        <p:spPr>
          <a:xfrm>
            <a:off x="6350000" y="3931921"/>
            <a:ext cx="22368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E874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3–10×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350000" y="4409439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faster than deep SOTA models (reported)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51900" y="3703321"/>
            <a:ext cx="2527300" cy="1329690"/>
          </a:xfrm>
          <a:prstGeom prst="roundRect">
            <a:avLst>
              <a:gd name="adj" fmla="val 7641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851900" y="3703321"/>
            <a:ext cx="2527300" cy="1329690"/>
          </a:xfrm>
          <a:custGeom>
            <a:avLst/>
            <a:gdLst/>
            <a:ahLst/>
            <a:cxnLst/>
            <a:rect l="l" t="t" r="r" b="b"/>
            <a:pathLst>
              <a:path w="2527300" h="132969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D6336C"/>
          </a:solidFill>
          <a:ln/>
        </p:spPr>
      </p:sp>
      <p:sp>
        <p:nvSpPr>
          <p:cNvPr id="28" name="Text 26"/>
          <p:cNvSpPr/>
          <p:nvPr/>
        </p:nvSpPr>
        <p:spPr>
          <a:xfrm>
            <a:off x="9029700" y="3931921"/>
            <a:ext cx="22368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6336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9029700" y="4409439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over half of 8 metrics across 14 datasets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Takeaways and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285239"/>
            <a:ext cx="3403600" cy="3004820"/>
          </a:xfrm>
          <a:prstGeom prst="roundRect">
            <a:avLst>
              <a:gd name="adj" fmla="val 338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285239"/>
            <a:ext cx="3403600" cy="3004820"/>
          </a:xfrm>
          <a:custGeom>
            <a:avLst/>
            <a:gdLst/>
            <a:ahLst/>
            <a:cxnLst/>
            <a:rect l="l" t="t" r="r" b="b"/>
            <a:pathLst>
              <a:path w="3403600" h="30048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F9D8A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564639"/>
            <a:ext cx="30347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9D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9820" y="1927861"/>
            <a:ext cx="2969514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Compare two reconstructions instead of computing costly associations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shallow MLPs are enough for edge deployment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plus sequence level covers explicit and implicit anomalies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94200" y="1285239"/>
            <a:ext cx="3403600" cy="3004820"/>
          </a:xfrm>
          <a:prstGeom prst="roundRect">
            <a:avLst>
              <a:gd name="adj" fmla="val 338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394200" y="1285239"/>
            <a:ext cx="3403600" cy="3004820"/>
          </a:xfrm>
          <a:custGeom>
            <a:avLst/>
            <a:gdLst/>
            <a:ahLst/>
            <a:cxnLst/>
            <a:rect l="l" t="t" r="r" b="b"/>
            <a:pathLst>
              <a:path w="3403600" h="30048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9" name="Text 7"/>
          <p:cNvSpPr/>
          <p:nvPr/>
        </p:nvSpPr>
        <p:spPr>
          <a:xfrm>
            <a:off x="4622800" y="1564639"/>
            <a:ext cx="3034792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74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Limitations (from the paper)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81220" y="2202182"/>
            <a:ext cx="2969514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Sensitive to α on some datasets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Does not model correlations between variables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online or federated updates yet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75600" y="1285239"/>
            <a:ext cx="3403600" cy="3004820"/>
          </a:xfrm>
          <a:prstGeom prst="roundRect">
            <a:avLst>
              <a:gd name="adj" fmla="val 3381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75600" y="1285239"/>
            <a:ext cx="3403600" cy="3004820"/>
          </a:xfrm>
          <a:custGeom>
            <a:avLst/>
            <a:gdLst/>
            <a:ahLst/>
            <a:cxnLst/>
            <a:rect l="l" t="t" r="r" b="b"/>
            <a:pathLst>
              <a:path w="3403600" h="30048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F6FDB"/>
          </a:solidFill>
          <a:ln/>
        </p:spPr>
      </p:sp>
      <p:sp>
        <p:nvSpPr>
          <p:cNvPr id="13" name="Text 11"/>
          <p:cNvSpPr/>
          <p:nvPr/>
        </p:nvSpPr>
        <p:spPr>
          <a:xfrm>
            <a:off x="8204200" y="1564639"/>
            <a:ext cx="30347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6FD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62620" y="1927861"/>
            <a:ext cx="2969514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Time-frequency learning, pruning, quantization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Spatiotemporal joint learning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online, federated system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4518661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Code: github.com/infogroup502/LFTSAD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FTSAD: Lightweight &amp; Fast Time-Series Anomaly Detection">
  <a:themeElements>
    <a:clrScheme name="LFTSAD: Lightweight &amp; Fast Time-Series Anomaly Detection">
      <a:dk1>
        <a:srgbClr val="14213D"/>
      </a:dk1>
      <a:lt1>
        <a:srgbClr val="F6F4EF"/>
      </a:lt1>
      <a:dk2>
        <a:srgbClr val="4D566A"/>
      </a:dk2>
      <a:lt2>
        <a:srgbClr val="DFDFDD"/>
      </a:lt2>
      <a:accent1>
        <a:srgbClr val="0F9D8A"/>
      </a:accent1>
      <a:accent2>
        <a:srgbClr val="E8743B"/>
      </a:accent2>
      <a:accent3>
        <a:srgbClr val="2F6FDB"/>
      </a:accent3>
      <a:accent4>
        <a:srgbClr val="BCD3F7"/>
      </a:accent4>
      <a:accent5>
        <a:srgbClr val="F6C6AE"/>
      </a:accent5>
      <a:accent6>
        <a:srgbClr val="9AA6C2"/>
      </a:accent6>
      <a:hlink>
        <a:srgbClr val="0563C1"/>
      </a:hlink>
      <a:folHlink>
        <a:srgbClr val="954F72"/>
      </a:folHlink>
    </a:clrScheme>
    <a:fontScheme name="LFTSAD: Lightweight &amp; Fast Time-Series Anomaly Detection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LFTSAD: Lightweight &amp; Fast Time-Series Anomaly Detection</dc:title>
  <dc:subject/>
  <dc:creator/>
  <cp:lastModifiedBy/>
  <cp:revision>1</cp:revision>
  <dcterms:created xsi:type="dcterms:W3CDTF">2026-10-24T11:19:12Z</dcterms:created>
  <dcterms:modified xsi:type="dcterms:W3CDTF">2026-10-24T11:19:12Z</dcterms:modified>
</cp:coreProperties>
</file>