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One-line summary: the authors built a tiny anomaly detector for factory sensor data, made of just four small neural networks, that runs on a Raspberry Pi and still matches big deep-learning models. TSAD = Time-Series Anomaly Detection: spotting abnormal readings in sensor data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Plain-English story: sensors in a factory send data constantly. Cloud servers are powerful but add delay, so companies want detection on small devices near the machines (the edge). Existing accurate models are big. Gaps: (1) nobody had built a model from only shallow (two-layer) MLPs for this task, (2) the accurate scoring method (association discrepancy from Anomaly Transformer) is expensive, (3) small networks struggle with anomalies that are partly normal-looking (called implicit outliers).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paper. Imagine guessing today's temperature from the last few hours (local) and from the same hour on previous days (global). If it is a normal day, both guesses agree. If something strange happens, the two guesses disagree. The paper replaces the costly 'association' calculation of Anomaly Transformer with this much cheaper trick: just compare two reconstructions. Training uses only normal-looking (unlabeled) data, so it is unsupervised.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Data goes into two branches that run in parallel. Each branch has two tiny networks with one hidden layer (two fully connected layers). The score is a weighted mix controlled by α (alpha, 0 to 1): α=1 uses only the point-level score, α=0 only the sequence-level score. If the final score is above a threshold λ (lambda), that timestamp is flagged. Complexity is roughly linear in the series length, which is why it is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these is a plain two-layer MLP: an input layer, one hidden layer of d neurons with ReLU and dropout, and one output neuron. P2 is the number of points per row and P1 the number of rows in the window grid (P1 x P2 = WIN). Both nets are shared across all variables, so every sensor channel uses the same two MLPs. They are trained together with an MSE loss that pushes the two guesses to agree on normal data. The difference of the outputs is Score 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recipe as the point-level pair, but the output is a short sequence of S3 values instead of a single point, so the output layer has S3 neurons (drawn here as three nodes for illustration). The window is split into S1 segments, each into S2 subsegments of S3 timestamps (S1 x S2 x S3 = WIN). Row-mates are local neighbors, column-mates are global. The difference between the two rebuilt sequences is Score S, which is blended with Score P using alpha. The paper does not list the numeric values of P1, P2, S1, S2, S3 or d in the text, so check its code on GitHub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Reasoning for having both branches: an anomaly lasts several timestamps. Some of its points are obviously odd (explicit), others look almost normal when viewed alone (implicit). Point-level catches the first, sequence-level the second. The grid on the left is how neighbors are chosen cheaply: reshape a window of length WIN into P1 x P2, then row-mates are local neighbors and column-mates are global neighbors. The paper's ablation (Table VI) shows combining both gives the best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14 public datasets (8 multivariate such as MSL, SMD, SWAT, WADI; 6 univariate such as ECG, UCR), 16 baseline models, 8 metrics (Accuracy, Precision, Recall, F1 variants, Affiliation-F1, VUS-ROC, VUS-PR). Tested on a PC, a Jetson Xavier NX and a Raspberry Pi 4b. Everything except PatchAD ran on the Pi. Honest caveat from the paper: accuracy is comparable or better on many metrics, but plain pointwise F1 is weaker. Also note the paper states 12.6K parameters in Table V but '126 K' in the discussion, so use 12.6K from the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the contribution is a design pattern, not a bigger model. Likely faculty questions. Why unsupervised? Anomaly labels are rare. Why MLPs? Simple, fast, parallel. How is the threshold chosen? It is a preset value λ between 0 and 1. What is the evaluation weakness? Benchmarks like these are sensitive to the metric used, and the paper itself admits weaker plain F1.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609600"/>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14213D"/>
                </a:solidFill>
                <a:latin typeface="Helvetica" pitchFamily="34" charset="0"/>
                <a:ea typeface="Helvetica" pitchFamily="34" charset="-122"/>
                <a:cs typeface="Helvetica"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361440"/>
            <a:ext cx="10566400" cy="4683760"/>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Helvetica" pitchFamily="34" charset="0"/>
                <a:ea typeface="Helvetica" pitchFamily="34" charset="-122"/>
                <a:cs typeface="Helvetica"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609600"/>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14213D"/>
                </a:solidFill>
                <a:latin typeface="Helvetica" pitchFamily="34" charset="0"/>
                <a:ea typeface="Helvetica" pitchFamily="34" charset="-122"/>
                <a:cs typeface="Helvetica"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361440"/>
            <a:ext cx="10566400" cy="4683760"/>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Helvetica" pitchFamily="34" charset="0"/>
                <a:ea typeface="Helvetica" pitchFamily="34" charset="-122"/>
                <a:cs typeface="Helvetica"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2092246"/>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5FD6C4"/>
                </a:solidFill>
                <a:latin typeface="Helvetica" pitchFamily="34" charset="0"/>
                <a:ea typeface="Helvetica" pitchFamily="34" charset="-122"/>
                <a:cs typeface="Helvetica" pitchFamily="34" charset="-120"/>
              </a:rPr>
              <a:t>RESEARCH PAPER REVIEW · IEEE TNNLS 2025</a:t>
            </a:r>
            <a:endParaRPr lang="en-US" sz="1500" dirty="0"/>
          </a:p>
        </p:txBody>
      </p:sp>
      <p:sp>
        <p:nvSpPr>
          <p:cNvPr id="3" name="Text 1"/>
          <p:cNvSpPr/>
          <p:nvPr>
            <p:ph type="title"/>
          </p:nvPr>
        </p:nvSpPr>
        <p:spPr>
          <a:xfrm>
            <a:off x="812800" y="2587546"/>
            <a:ext cx="10883392" cy="1177449"/>
          </a:xfrm>
          <a:prstGeom prst="rect">
            <a:avLst/>
          </a:prstGeom>
          <a:noFill/>
          <a:ln/>
        </p:spPr>
        <p:txBody>
          <a:bodyPr wrap="square" lIns="0" tIns="0" rIns="0" bIns="0" rtlCol="0" anchor="t">
            <a:normAutofit/>
          </a:bodyPr>
          <a:lstStyle/>
          <a:p>
            <a:pPr algn="l" indent="0" marL="0">
              <a:lnSpc>
                <a:spcPts val="4536"/>
              </a:lnSpc>
              <a:buNone/>
            </a:pPr>
            <a:r>
              <a:rPr lang="en-US" sz="4200" b="1" i="0" dirty="0">
                <a:solidFill>
                  <a:srgbClr val="F6F4EF"/>
                </a:solidFill>
                <a:latin typeface="Helvetica" pitchFamily="34" charset="0"/>
                <a:ea typeface="Helvetica" pitchFamily="34" charset="-122"/>
                <a:cs typeface="Helvetica" pitchFamily="34" charset="-120"/>
              </a:rPr>
              <a:t>LFTSAD: Lightweight and Fast Time-Series Anomaly Detection</a:t>
            </a:r>
            <a:endParaRPr lang="en-US" sz="4200" dirty="0"/>
          </a:p>
        </p:txBody>
      </p:sp>
      <p:sp>
        <p:nvSpPr>
          <p:cNvPr id="4" name="Text 2"/>
          <p:cNvSpPr/>
          <p:nvPr/>
        </p:nvSpPr>
        <p:spPr>
          <a:xfrm>
            <a:off x="812800" y="3968195"/>
            <a:ext cx="10883392" cy="34544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D1E3"/>
                </a:solidFill>
                <a:latin typeface="Helvetica" pitchFamily="34" charset="0"/>
                <a:ea typeface="Helvetica" pitchFamily="34" charset="-122"/>
                <a:cs typeface="Helvetica" pitchFamily="34" charset="-120"/>
              </a:rPr>
              <a:t>Using point-level and sequence-level reconstruction discrepancy</a:t>
            </a:r>
            <a:endParaRPr lang="en-US" sz="1800" dirty="0"/>
          </a:p>
        </p:txBody>
      </p:sp>
      <p:sp>
        <p:nvSpPr>
          <p:cNvPr id="5" name="Text 3"/>
          <p:cNvSpPr/>
          <p:nvPr/>
        </p:nvSpPr>
        <p:spPr>
          <a:xfrm>
            <a:off x="812800" y="4516834"/>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AA6C2"/>
                </a:solidFill>
                <a:latin typeface="Helvetica" pitchFamily="34" charset="0"/>
                <a:ea typeface="Helvetica" pitchFamily="34" charset="-122"/>
                <a:cs typeface="Helvetica" pitchFamily="34" charset="-120"/>
              </a:rPr>
              <a:t>Lei Chen, Jiajun Tang, Ying Zou, Xuxin Liu, Xingquan Xie, Guangyang Deng · Hunan University of Science and Technology</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F"/>
        </a:solidFill>
      </p:bgPr>
    </p:bg>
    <p:spTree>
      <p:nvGrpSpPr>
        <p:cNvPr id="1" name=""/>
        <p:cNvGrpSpPr/>
        <p:nvPr/>
      </p:nvGrpSpPr>
      <p:grpSpPr>
        <a:xfrm>
          <a:off x="0" y="0"/>
          <a:ext cx="0" cy="0"/>
          <a:chOff x="0" y="0"/>
          <a:chExt cx="0" cy="0"/>
        </a:xfrm>
      </p:grpSpPr>
      <p:sp>
        <p:nvSpPr>
          <p:cNvPr id="2" name="Text 0"/>
          <p:cNvSpPr/>
          <p:nvPr>
            <p:ph type="title"/>
          </p:nvPr>
        </p:nvSpPr>
        <p:spPr>
          <a:xfrm>
            <a:off x="812800" y="6096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Helvetica" pitchFamily="34" charset="0"/>
                <a:ea typeface="Helvetica" pitchFamily="34" charset="-122"/>
                <a:cs typeface="Helvetica" pitchFamily="34" charset="-120"/>
              </a:rPr>
              <a:t>Why this paper exists</a:t>
            </a:r>
            <a:endParaRPr lang="en-US" sz="3200" dirty="0"/>
          </a:p>
        </p:txBody>
      </p:sp>
      <p:sp>
        <p:nvSpPr>
          <p:cNvPr id="3" name="Shape 1"/>
          <p:cNvSpPr/>
          <p:nvPr/>
        </p:nvSpPr>
        <p:spPr>
          <a:xfrm>
            <a:off x="812800" y="1285240"/>
            <a:ext cx="3403600" cy="2671445"/>
          </a:xfrm>
          <a:prstGeom prst="roundRect">
            <a:avLst>
              <a:gd name="adj" fmla="val 3803"/>
            </a:avLst>
          </a:prstGeom>
          <a:solidFill>
            <a:srgbClr val="FFFFFF"/>
          </a:solidFill>
          <a:ln/>
        </p:spPr>
      </p:sp>
      <p:sp>
        <p:nvSpPr>
          <p:cNvPr id="4" name="Shape 2"/>
          <p:cNvSpPr/>
          <p:nvPr/>
        </p:nvSpPr>
        <p:spPr>
          <a:xfrm>
            <a:off x="812800" y="1285240"/>
            <a:ext cx="3403600" cy="2671445"/>
          </a:xfrm>
          <a:custGeom>
            <a:avLst/>
            <a:gdLst/>
            <a:ahLst/>
            <a:cxnLst/>
            <a:rect l="l" t="t" r="r" b="b"/>
            <a:pathLst>
              <a:path w="3403600" h="2671445">
                <a:moveTo>
                  <a:pt x="0" y="101600"/>
                </a:moveTo>
                <a:lnTo>
                  <a:pt x="0" y="101600"/>
                </a:lnTo>
                <a:arcTo hR="101600" wR="101600" stAng="10800000" swAng="5400000"/>
                <a:lnTo>
                  <a:pt x="3302000" y="0"/>
                </a:lnTo>
                <a:arcTo hR="101600" wR="101600" stAng="16200000" swAng="5400000"/>
                <a:lnTo>
                  <a:pt x="3403600" y="101600"/>
                </a:lnTo>
                <a:arcTo hR="50800" wR="101600" stAng="0" swAng="-5400000"/>
                <a:lnTo>
                  <a:pt x="101600" y="50800"/>
                </a:lnTo>
                <a:arcTo hR="50800" wR="101600" stAng="16200000" swAng="-5400000"/>
                <a:close/>
              </a:path>
            </a:pathLst>
          </a:custGeom>
          <a:solidFill>
            <a:srgbClr val="E8743B"/>
          </a:solidFill>
          <a:ln/>
        </p:spPr>
      </p:sp>
      <p:sp>
        <p:nvSpPr>
          <p:cNvPr id="5" name="Text 3"/>
          <p:cNvSpPr/>
          <p:nvPr/>
        </p:nvSpPr>
        <p:spPr>
          <a:xfrm>
            <a:off x="1041400" y="1564640"/>
            <a:ext cx="303479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8743B"/>
                </a:solidFill>
                <a:latin typeface="Helvetica" pitchFamily="34" charset="0"/>
                <a:ea typeface="Helvetica" pitchFamily="34" charset="-122"/>
                <a:cs typeface="Helvetica" pitchFamily="34" charset="-120"/>
              </a:rPr>
              <a:t>The problem</a:t>
            </a:r>
            <a:endParaRPr lang="en-US" sz="1800" dirty="0"/>
          </a:p>
        </p:txBody>
      </p:sp>
      <p:sp>
        <p:nvSpPr>
          <p:cNvPr id="6" name="Text 4"/>
          <p:cNvSpPr/>
          <p:nvPr/>
        </p:nvSpPr>
        <p:spPr>
          <a:xfrm>
            <a:off x="1041400" y="1927860"/>
            <a:ext cx="3034792" cy="182562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4213D"/>
                </a:solidFill>
                <a:latin typeface="Helvetica" pitchFamily="34" charset="0"/>
                <a:ea typeface="Helvetica" pitchFamily="34" charset="-122"/>
                <a:cs typeface="Helvetica" pitchFamily="34" charset="-120"/>
              </a:rPr>
              <a:t>Factories (Industry 4.0) stream sensor data. Anomalies must be caught in real time, on small edge devices such as a Raspberry Pi 4b (2 GB RAM). Deep models (Transformers, RNNs, CNNs) are too heavy and slow.</a:t>
            </a:r>
            <a:endParaRPr lang="en-US" sz="1500" dirty="0"/>
          </a:p>
        </p:txBody>
      </p:sp>
      <p:sp>
        <p:nvSpPr>
          <p:cNvPr id="7" name="Shape 5"/>
          <p:cNvSpPr/>
          <p:nvPr/>
        </p:nvSpPr>
        <p:spPr>
          <a:xfrm>
            <a:off x="4394200" y="1285240"/>
            <a:ext cx="3403600" cy="2671445"/>
          </a:xfrm>
          <a:prstGeom prst="roundRect">
            <a:avLst>
              <a:gd name="adj" fmla="val 3803"/>
            </a:avLst>
          </a:prstGeom>
          <a:solidFill>
            <a:srgbClr val="FFFFFF"/>
          </a:solidFill>
          <a:ln/>
        </p:spPr>
      </p:sp>
      <p:sp>
        <p:nvSpPr>
          <p:cNvPr id="8" name="Shape 6"/>
          <p:cNvSpPr/>
          <p:nvPr/>
        </p:nvSpPr>
        <p:spPr>
          <a:xfrm>
            <a:off x="4394200" y="1285240"/>
            <a:ext cx="3403600" cy="2671445"/>
          </a:xfrm>
          <a:custGeom>
            <a:avLst/>
            <a:gdLst/>
            <a:ahLst/>
            <a:cxnLst/>
            <a:rect l="l" t="t" r="r" b="b"/>
            <a:pathLst>
              <a:path w="3403600" h="2671445">
                <a:moveTo>
                  <a:pt x="0" y="101600"/>
                </a:moveTo>
                <a:lnTo>
                  <a:pt x="0" y="101600"/>
                </a:lnTo>
                <a:arcTo hR="101600" wR="101600" stAng="10800000" swAng="5400000"/>
                <a:lnTo>
                  <a:pt x="3302000" y="0"/>
                </a:lnTo>
                <a:arcTo hR="101600" wR="101600" stAng="16200000" swAng="5400000"/>
                <a:lnTo>
                  <a:pt x="3403600" y="101600"/>
                </a:lnTo>
                <a:arcTo hR="50800" wR="101600" stAng="0" swAng="-5400000"/>
                <a:lnTo>
                  <a:pt x="101600" y="50800"/>
                </a:lnTo>
                <a:arcTo hR="50800" wR="101600" stAng="16200000" swAng="-5400000"/>
                <a:close/>
              </a:path>
            </a:pathLst>
          </a:custGeom>
          <a:solidFill>
            <a:srgbClr val="2F6FDB"/>
          </a:solidFill>
          <a:ln/>
        </p:spPr>
      </p:sp>
      <p:sp>
        <p:nvSpPr>
          <p:cNvPr id="9" name="Text 7"/>
          <p:cNvSpPr/>
          <p:nvPr/>
        </p:nvSpPr>
        <p:spPr>
          <a:xfrm>
            <a:off x="4622800" y="1564640"/>
            <a:ext cx="303479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F6FDB"/>
                </a:solidFill>
                <a:latin typeface="Helvetica" pitchFamily="34" charset="0"/>
                <a:ea typeface="Helvetica" pitchFamily="34" charset="-122"/>
                <a:cs typeface="Helvetica" pitchFamily="34" charset="-120"/>
              </a:rPr>
              <a:t>What exists</a:t>
            </a:r>
            <a:endParaRPr lang="en-US" sz="1800" dirty="0"/>
          </a:p>
        </p:txBody>
      </p:sp>
      <p:sp>
        <p:nvSpPr>
          <p:cNvPr id="10" name="Text 8"/>
          <p:cNvSpPr/>
          <p:nvPr/>
        </p:nvSpPr>
        <p:spPr>
          <a:xfrm>
            <a:off x="4622800" y="1927860"/>
            <a:ext cx="3034792" cy="182562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4213D"/>
                </a:solidFill>
                <a:latin typeface="Helvetica" pitchFamily="34" charset="0"/>
                <a:ea typeface="Helvetica" pitchFamily="34" charset="-122"/>
                <a:cs typeface="Helvetica" pitchFamily="34" charset="-120"/>
              </a:rPr>
              <a:t>Anomaly Transformer and DCdetector are accurate, but compute costly "association" scores. Pruning or parallelism still keeps deep models. USAD and PatchAD use MLPs but are still deep.</a:t>
            </a:r>
            <a:endParaRPr lang="en-US" sz="1500" dirty="0"/>
          </a:p>
        </p:txBody>
      </p:sp>
      <p:sp>
        <p:nvSpPr>
          <p:cNvPr id="11" name="Shape 9"/>
          <p:cNvSpPr/>
          <p:nvPr/>
        </p:nvSpPr>
        <p:spPr>
          <a:xfrm>
            <a:off x="7975600" y="1285240"/>
            <a:ext cx="3403600" cy="2671445"/>
          </a:xfrm>
          <a:prstGeom prst="roundRect">
            <a:avLst>
              <a:gd name="adj" fmla="val 3803"/>
            </a:avLst>
          </a:prstGeom>
          <a:solidFill>
            <a:srgbClr val="FFFFFF"/>
          </a:solidFill>
          <a:ln/>
        </p:spPr>
      </p:sp>
      <p:sp>
        <p:nvSpPr>
          <p:cNvPr id="12" name="Shape 10"/>
          <p:cNvSpPr/>
          <p:nvPr/>
        </p:nvSpPr>
        <p:spPr>
          <a:xfrm>
            <a:off x="7975600" y="1285240"/>
            <a:ext cx="3403600" cy="2671445"/>
          </a:xfrm>
          <a:custGeom>
            <a:avLst/>
            <a:gdLst/>
            <a:ahLst/>
            <a:cxnLst/>
            <a:rect l="l" t="t" r="r" b="b"/>
            <a:pathLst>
              <a:path w="3403600" h="2671445">
                <a:moveTo>
                  <a:pt x="0" y="101600"/>
                </a:moveTo>
                <a:lnTo>
                  <a:pt x="0" y="101600"/>
                </a:lnTo>
                <a:arcTo hR="101600" wR="101600" stAng="10800000" swAng="5400000"/>
                <a:lnTo>
                  <a:pt x="3302000" y="0"/>
                </a:lnTo>
                <a:arcTo hR="101600" wR="101600" stAng="16200000" swAng="5400000"/>
                <a:lnTo>
                  <a:pt x="3403600" y="101600"/>
                </a:lnTo>
                <a:arcTo hR="50800" wR="101600" stAng="0" swAng="-5400000"/>
                <a:lnTo>
                  <a:pt x="101600" y="50800"/>
                </a:lnTo>
                <a:arcTo hR="50800" wR="101600" stAng="16200000" swAng="-5400000"/>
                <a:close/>
              </a:path>
            </a:pathLst>
          </a:custGeom>
          <a:solidFill>
            <a:srgbClr val="0F9D8A"/>
          </a:solidFill>
          <a:ln/>
        </p:spPr>
      </p:sp>
      <p:sp>
        <p:nvSpPr>
          <p:cNvPr id="13" name="Text 11"/>
          <p:cNvSpPr/>
          <p:nvPr/>
        </p:nvSpPr>
        <p:spPr>
          <a:xfrm>
            <a:off x="8204200" y="1564640"/>
            <a:ext cx="303479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F9D8A"/>
                </a:solidFill>
                <a:latin typeface="Helvetica" pitchFamily="34" charset="0"/>
                <a:ea typeface="Helvetica" pitchFamily="34" charset="-122"/>
                <a:cs typeface="Helvetica" pitchFamily="34" charset="-120"/>
              </a:rPr>
              <a:t>Research gaps</a:t>
            </a:r>
            <a:endParaRPr lang="en-US" sz="1800" dirty="0"/>
          </a:p>
        </p:txBody>
      </p:sp>
      <p:sp>
        <p:nvSpPr>
          <p:cNvPr id="14" name="Text 12"/>
          <p:cNvSpPr/>
          <p:nvPr/>
        </p:nvSpPr>
        <p:spPr>
          <a:xfrm>
            <a:off x="8262620" y="1927860"/>
            <a:ext cx="2969514" cy="1625600"/>
          </a:xfrm>
          <a:prstGeom prst="rect">
            <a:avLst/>
          </a:prstGeom>
          <a:noFill/>
          <a:ln/>
        </p:spPr>
        <p:txBody>
          <a:bodyPr wrap="square" lIns="0" tIns="0" rIns="0" bIns="0" rtlCol="0" anchor="t">
            <a:normAutofit/>
          </a:bodyPr>
          <a:lstStyle/>
          <a:p>
            <a:pPr algn="l" marL="170180" indent="-170180">
              <a:lnSpc>
                <a:spcPts val="2100"/>
              </a:lnSpc>
              <a:buSzPct val="100000"/>
              <a:buChar char="•"/>
            </a:pPr>
            <a:r>
              <a:rPr lang="en-US" sz="1500" dirty="0">
                <a:solidFill>
                  <a:srgbClr val="14213D"/>
                </a:solidFill>
                <a:latin typeface="Helvetica" pitchFamily="34" charset="0"/>
                <a:ea typeface="Helvetica" pitchFamily="34" charset="-122"/>
                <a:cs typeface="Helvetica" pitchFamily="34" charset="-120"/>
              </a:rPr>
              <a:t>No shallow all-MLP detector built for edge devices</a:t>
            </a:r>
            <a:endParaRPr lang="en-US" sz="1500" dirty="0"/>
          </a:p>
          <a:p>
            <a:pPr algn="l" marL="170180" indent="-170180">
              <a:lnSpc>
                <a:spcPts val="2100"/>
              </a:lnSpc>
              <a:buSzPct val="100000"/>
              <a:buChar char="•"/>
            </a:pPr>
            <a:r>
              <a:rPr lang="en-US" sz="1500" dirty="0">
                <a:solidFill>
                  <a:srgbClr val="14213D"/>
                </a:solidFill>
                <a:latin typeface="Helvetica" pitchFamily="34" charset="0"/>
                <a:ea typeface="Helvetica" pitchFamily="34" charset="-122"/>
                <a:cs typeface="Helvetica" pitchFamily="34" charset="-120"/>
              </a:rPr>
              <a:t>Association scoring is too expensive</a:t>
            </a:r>
            <a:endParaRPr lang="en-US" sz="1500" dirty="0"/>
          </a:p>
          <a:p>
            <a:pPr algn="l" marL="170180" indent="-170180">
              <a:lnSpc>
                <a:spcPts val="2100"/>
              </a:lnSpc>
              <a:buSzPct val="100000"/>
              <a:buChar char="•"/>
            </a:pPr>
            <a:r>
              <a:rPr lang="en-US" sz="1500" dirty="0">
                <a:solidFill>
                  <a:srgbClr val="14213D"/>
                </a:solidFill>
                <a:latin typeface="Helvetica" pitchFamily="34" charset="0"/>
                <a:ea typeface="Helvetica" pitchFamily="34" charset="-122"/>
                <a:cs typeface="Helvetica" pitchFamily="34" charset="-120"/>
              </a:rPr>
              <a:t>Shallow nets miss subtle anomalies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F"/>
        </a:solidFill>
      </p:bgPr>
    </p:bg>
    <p:spTree>
      <p:nvGrpSpPr>
        <p:cNvPr id="1" name=""/>
        <p:cNvGrpSpPr/>
        <p:nvPr/>
      </p:nvGrpSpPr>
      <p:grpSpPr>
        <a:xfrm>
          <a:off x="0" y="0"/>
          <a:ext cx="0" cy="0"/>
          <a:chOff x="0" y="0"/>
          <a:chExt cx="0" cy="0"/>
        </a:xfrm>
      </p:grpSpPr>
      <p:sp>
        <p:nvSpPr>
          <p:cNvPr id="2" name="Text 0"/>
          <p:cNvSpPr/>
          <p:nvPr>
            <p:ph type="title"/>
          </p:nvPr>
        </p:nvSpPr>
        <p:spPr>
          <a:xfrm>
            <a:off x="812800" y="6096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Helvetica" pitchFamily="34" charset="0"/>
                <a:ea typeface="Helvetica" pitchFamily="34" charset="-122"/>
                <a:cs typeface="Helvetica" pitchFamily="34" charset="-120"/>
              </a:rPr>
              <a:t>Core idea: can the neighbors predict me?</a:t>
            </a:r>
            <a:endParaRPr lang="en-US" sz="3200" dirty="0"/>
          </a:p>
        </p:txBody>
      </p:sp>
      <p:sp>
        <p:nvSpPr>
          <p:cNvPr id="3" name="Text 1"/>
          <p:cNvSpPr/>
          <p:nvPr/>
        </p:nvSpPr>
        <p:spPr>
          <a:xfrm>
            <a:off x="812800" y="1285241"/>
            <a:ext cx="10883392" cy="57404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4213D"/>
                </a:solidFill>
                <a:latin typeface="Helvetica" pitchFamily="34" charset="0"/>
                <a:ea typeface="Helvetica" pitchFamily="34" charset="-122"/>
                <a:cs typeface="Helvetica" pitchFamily="34" charset="-120"/>
              </a:rPr>
              <a:t>Both networks try to rebuild the same timestamp. A normal point agrees with nearby and with distant, periodic points, so both guesses match. An anomaly only fits its own odd neighbors, so the guesses disagree.</a:t>
            </a:r>
            <a:endParaRPr lang="en-US" sz="1600" dirty="0"/>
          </a:p>
        </p:txBody>
      </p:sp>
      <p:pic>
        <p:nvPicPr>
          <p:cNvPr id="4" name="Image 0" descr="Two small networks guess the same point from local and from global neighbors; a big disagreement means anomaly">    </p:cNvPr>
          <p:cNvPicPr>
            <a:picLocks noChangeAspect="1"/>
          </p:cNvPicPr>
          <p:nvPr/>
        </p:nvPicPr>
        <p:blipFill>
          <a:blip r:embed="rId1"/>
          <a:srcRect l="-7" r="-7" t="0" b="0"/>
          <a:stretch/>
        </p:blipFill>
        <p:spPr>
          <a:xfrm>
            <a:off x="812800" y="2062480"/>
            <a:ext cx="10566400" cy="2667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F"/>
        </a:solidFill>
      </p:bgPr>
    </p:bg>
    <p:spTree>
      <p:nvGrpSpPr>
        <p:cNvPr id="1" name=""/>
        <p:cNvGrpSpPr/>
        <p:nvPr/>
      </p:nvGrpSpPr>
      <p:grpSpPr>
        <a:xfrm>
          <a:off x="0" y="0"/>
          <a:ext cx="0" cy="0"/>
          <a:chOff x="0" y="0"/>
          <a:chExt cx="0" cy="0"/>
        </a:xfrm>
      </p:grpSpPr>
      <p:sp>
        <p:nvSpPr>
          <p:cNvPr id="2" name="Text 0"/>
          <p:cNvSpPr/>
          <p:nvPr>
            <p:ph type="title"/>
          </p:nvPr>
        </p:nvSpPr>
        <p:spPr>
          <a:xfrm>
            <a:off x="812800" y="6096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Helvetica" pitchFamily="34" charset="0"/>
                <a:ea typeface="Helvetica" pitchFamily="34" charset="-122"/>
                <a:cs typeface="Helvetica" pitchFamily="34" charset="-120"/>
              </a:rPr>
              <a:t>How it works: four two-layer MLPs</a:t>
            </a:r>
            <a:endParaRPr lang="en-US" sz="3200" dirty="0"/>
          </a:p>
        </p:txBody>
      </p:sp>
      <p:sp>
        <p:nvSpPr>
          <p:cNvPr id="3" name="Shape 1"/>
          <p:cNvSpPr/>
          <p:nvPr/>
        </p:nvSpPr>
        <p:spPr>
          <a:xfrm>
            <a:off x="812800" y="1697355"/>
            <a:ext cx="1651000" cy="1884680"/>
          </a:xfrm>
          <a:prstGeom prst="roundRect">
            <a:avLst>
              <a:gd name="adj" fmla="val 6154"/>
            </a:avLst>
          </a:prstGeom>
          <a:solidFill>
            <a:srgbClr val="14213D"/>
          </a:solidFill>
          <a:ln/>
        </p:spPr>
      </p:sp>
      <p:sp>
        <p:nvSpPr>
          <p:cNvPr id="4" name="Text 2"/>
          <p:cNvSpPr/>
          <p:nvPr/>
        </p:nvSpPr>
        <p:spPr>
          <a:xfrm>
            <a:off x="1016000" y="1900555"/>
            <a:ext cx="1447800"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6F4EF"/>
                </a:solidFill>
                <a:latin typeface="Helvetica" pitchFamily="34" charset="0"/>
                <a:ea typeface="Helvetica" pitchFamily="34" charset="-122"/>
                <a:cs typeface="Helvetica" pitchFamily="34" charset="-120"/>
              </a:rPr>
              <a:t>Sensor data</a:t>
            </a:r>
            <a:endParaRPr lang="en-US" sz="1700" dirty="0"/>
          </a:p>
        </p:txBody>
      </p:sp>
      <p:sp>
        <p:nvSpPr>
          <p:cNvPr id="5" name="Text 3"/>
          <p:cNvSpPr/>
          <p:nvPr/>
        </p:nvSpPr>
        <p:spPr>
          <a:xfrm>
            <a:off x="1016000" y="2223136"/>
            <a:ext cx="1295400" cy="118110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C9D1E3"/>
                </a:solidFill>
                <a:latin typeface="Helvetica" pitchFamily="34" charset="0"/>
                <a:ea typeface="Helvetica" pitchFamily="34" charset="-122"/>
                <a:cs typeface="Helvetica" pitchFamily="34" charset="-120"/>
              </a:rPr>
              <a:t>Windows of the time series. Each variable is processed in parallel.</a:t>
            </a:r>
            <a:endParaRPr lang="en-US" sz="1400" dirty="0"/>
          </a:p>
        </p:txBody>
      </p:sp>
      <p:sp>
        <p:nvSpPr>
          <p:cNvPr id="6" name="Text 4"/>
          <p:cNvSpPr/>
          <p:nvPr/>
        </p:nvSpPr>
        <p:spPr>
          <a:xfrm>
            <a:off x="2616200" y="2390775"/>
            <a:ext cx="426720" cy="523240"/>
          </a:xfrm>
          <a:prstGeom prst="rect">
            <a:avLst/>
          </a:prstGeom>
          <a:noFill/>
          <a:ln/>
        </p:spPr>
        <p:txBody>
          <a:bodyPr wrap="square" lIns="0" tIns="0" rIns="0" bIns="0" rtlCol="0" anchor="t">
            <a:normAutofit/>
          </a:bodyPr>
          <a:lstStyle/>
          <a:p>
            <a:pPr algn="l" indent="0" marL="0">
              <a:lnSpc>
                <a:spcPts val="3920"/>
              </a:lnSpc>
              <a:buNone/>
            </a:pPr>
            <a:r>
              <a:rPr lang="en-US" sz="2800" dirty="0">
                <a:solidFill>
                  <a:srgbClr val="14213D"/>
                </a:solidFill>
                <a:latin typeface="Helvetica" pitchFamily="34" charset="0"/>
                <a:ea typeface="Helvetica" pitchFamily="34" charset="-122"/>
                <a:cs typeface="Helvetica" pitchFamily="34" charset="-120"/>
              </a:rPr>
              <a:t>→</a:t>
            </a:r>
            <a:endParaRPr lang="en-US" sz="2800" dirty="0"/>
          </a:p>
        </p:txBody>
      </p:sp>
      <p:sp>
        <p:nvSpPr>
          <p:cNvPr id="7" name="Shape 5"/>
          <p:cNvSpPr/>
          <p:nvPr/>
        </p:nvSpPr>
        <p:spPr>
          <a:xfrm>
            <a:off x="3124200" y="1285241"/>
            <a:ext cx="5054600" cy="1398270"/>
          </a:xfrm>
          <a:prstGeom prst="roundRect">
            <a:avLst>
              <a:gd name="adj" fmla="val 5450"/>
            </a:avLst>
          </a:prstGeom>
          <a:solidFill>
            <a:srgbClr val="FFFFFF"/>
          </a:solidFill>
          <a:ln/>
        </p:spPr>
      </p:sp>
      <p:sp>
        <p:nvSpPr>
          <p:cNvPr id="8" name="Shape 6"/>
          <p:cNvSpPr/>
          <p:nvPr/>
        </p:nvSpPr>
        <p:spPr>
          <a:xfrm>
            <a:off x="3124200" y="1285241"/>
            <a:ext cx="5054600" cy="1398270"/>
          </a:xfrm>
          <a:custGeom>
            <a:avLst/>
            <a:gdLst/>
            <a:ahLst/>
            <a:cxnLst/>
            <a:rect l="l" t="t" r="r" b="b"/>
            <a:pathLst>
              <a:path w="5054600" h="1398270">
                <a:moveTo>
                  <a:pt x="76200" y="1398270"/>
                </a:moveTo>
                <a:lnTo>
                  <a:pt x="76200" y="1398270"/>
                </a:lnTo>
                <a:arcTo hR="76200" wR="76200" stAng="5400000" swAng="5400000"/>
                <a:lnTo>
                  <a:pt x="0" y="76200"/>
                </a:lnTo>
                <a:arcTo hR="76200" wR="76200" stAng="10800000" swAng="5400000"/>
                <a:lnTo>
                  <a:pt x="76200" y="0"/>
                </a:lnTo>
                <a:arcTo hR="76200" wR="12700" stAng="16200000" swAng="-5400000"/>
                <a:lnTo>
                  <a:pt x="63500" y="1322070"/>
                </a:lnTo>
                <a:arcTo hR="76200" wR="12700" stAng="10800000" swAng="-5400000"/>
                <a:close/>
              </a:path>
            </a:pathLst>
          </a:custGeom>
          <a:solidFill>
            <a:srgbClr val="2F6FDB"/>
          </a:solidFill>
          <a:ln/>
        </p:spPr>
      </p:sp>
      <p:sp>
        <p:nvSpPr>
          <p:cNvPr id="9" name="Text 7"/>
          <p:cNvSpPr/>
          <p:nvPr/>
        </p:nvSpPr>
        <p:spPr>
          <a:xfrm>
            <a:off x="3362960" y="1463041"/>
            <a:ext cx="4777181"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2F6FDB"/>
                </a:solidFill>
                <a:latin typeface="Helvetica" pitchFamily="34" charset="0"/>
                <a:ea typeface="Helvetica" pitchFamily="34" charset="-122"/>
                <a:cs typeface="Helvetica" pitchFamily="34" charset="-120"/>
              </a:rPr>
              <a:t>Point-level branch (MLP 1 and 2)</a:t>
            </a:r>
            <a:endParaRPr lang="en-US" sz="1700" dirty="0"/>
          </a:p>
        </p:txBody>
      </p:sp>
      <p:sp>
        <p:nvSpPr>
          <p:cNvPr id="10" name="Text 8"/>
          <p:cNvSpPr/>
          <p:nvPr/>
        </p:nvSpPr>
        <p:spPr>
          <a:xfrm>
            <a:off x="3362960" y="1785620"/>
            <a:ext cx="4777181" cy="74549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4213D"/>
                </a:solidFill>
                <a:latin typeface="Helvetica" pitchFamily="34" charset="0"/>
                <a:ea typeface="Helvetica" pitchFamily="34" charset="-122"/>
                <a:cs typeface="Helvetica" pitchFamily="34" charset="-120"/>
              </a:rPr>
              <a:t>MLP 1 rebuilds a point from its local neighbors. MLP 2 rebuilds it from global neighbors. Score P is their difference.</a:t>
            </a:r>
            <a:endParaRPr lang="en-US" sz="1400" dirty="0"/>
          </a:p>
        </p:txBody>
      </p:sp>
      <p:sp>
        <p:nvSpPr>
          <p:cNvPr id="11" name="Shape 9"/>
          <p:cNvSpPr/>
          <p:nvPr/>
        </p:nvSpPr>
        <p:spPr>
          <a:xfrm>
            <a:off x="3124200" y="2835911"/>
            <a:ext cx="5054600" cy="1158240"/>
          </a:xfrm>
          <a:prstGeom prst="roundRect">
            <a:avLst>
              <a:gd name="adj" fmla="val 6579"/>
            </a:avLst>
          </a:prstGeom>
          <a:solidFill>
            <a:srgbClr val="FFFFFF"/>
          </a:solidFill>
          <a:ln/>
        </p:spPr>
      </p:sp>
      <p:sp>
        <p:nvSpPr>
          <p:cNvPr id="12" name="Shape 10"/>
          <p:cNvSpPr/>
          <p:nvPr/>
        </p:nvSpPr>
        <p:spPr>
          <a:xfrm>
            <a:off x="3124200" y="2835911"/>
            <a:ext cx="5054600" cy="1158240"/>
          </a:xfrm>
          <a:custGeom>
            <a:avLst/>
            <a:gdLst/>
            <a:ahLst/>
            <a:cxnLst/>
            <a:rect l="l" t="t" r="r" b="b"/>
            <a:pathLst>
              <a:path w="5054600" h="1158240">
                <a:moveTo>
                  <a:pt x="76200" y="1158240"/>
                </a:moveTo>
                <a:lnTo>
                  <a:pt x="76200" y="1158240"/>
                </a:lnTo>
                <a:arcTo hR="76200" wR="76200" stAng="5400000" swAng="5400000"/>
                <a:lnTo>
                  <a:pt x="0" y="76200"/>
                </a:lnTo>
                <a:arcTo hR="76200" wR="76200" stAng="10800000" swAng="5400000"/>
                <a:lnTo>
                  <a:pt x="76200" y="0"/>
                </a:lnTo>
                <a:arcTo hR="76200" wR="12700" stAng="16200000" swAng="-5400000"/>
                <a:lnTo>
                  <a:pt x="63500" y="1082040"/>
                </a:lnTo>
                <a:arcTo hR="76200" wR="12700" stAng="10800000" swAng="-5400000"/>
                <a:close/>
              </a:path>
            </a:pathLst>
          </a:custGeom>
          <a:solidFill>
            <a:srgbClr val="E8743B"/>
          </a:solidFill>
          <a:ln/>
        </p:spPr>
      </p:sp>
      <p:sp>
        <p:nvSpPr>
          <p:cNvPr id="13" name="Text 11"/>
          <p:cNvSpPr/>
          <p:nvPr/>
        </p:nvSpPr>
        <p:spPr>
          <a:xfrm>
            <a:off x="3362960" y="3013711"/>
            <a:ext cx="4777181"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E8743B"/>
                </a:solidFill>
                <a:latin typeface="Helvetica" pitchFamily="34" charset="0"/>
                <a:ea typeface="Helvetica" pitchFamily="34" charset="-122"/>
                <a:cs typeface="Helvetica" pitchFamily="34" charset="-120"/>
              </a:rPr>
              <a:t>Sequence-level branch (MLP 3 and 4)</a:t>
            </a:r>
            <a:endParaRPr lang="en-US" sz="1700" dirty="0"/>
          </a:p>
        </p:txBody>
      </p:sp>
      <p:sp>
        <p:nvSpPr>
          <p:cNvPr id="14" name="Text 12"/>
          <p:cNvSpPr/>
          <p:nvPr/>
        </p:nvSpPr>
        <p:spPr>
          <a:xfrm>
            <a:off x="3362960" y="3336291"/>
            <a:ext cx="4777181"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4213D"/>
                </a:solidFill>
                <a:latin typeface="Helvetica" pitchFamily="34" charset="0"/>
                <a:ea typeface="Helvetica" pitchFamily="34" charset="-122"/>
                <a:cs typeface="Helvetica" pitchFamily="34" charset="-120"/>
              </a:rPr>
              <a:t>Same trick for short sub-sequences instead of single points. Score S is their difference.</a:t>
            </a:r>
            <a:endParaRPr lang="en-US" sz="1400" dirty="0"/>
          </a:p>
        </p:txBody>
      </p:sp>
      <p:sp>
        <p:nvSpPr>
          <p:cNvPr id="15" name="Text 13"/>
          <p:cNvSpPr/>
          <p:nvPr/>
        </p:nvSpPr>
        <p:spPr>
          <a:xfrm>
            <a:off x="8331200" y="2390775"/>
            <a:ext cx="426720" cy="523240"/>
          </a:xfrm>
          <a:prstGeom prst="rect">
            <a:avLst/>
          </a:prstGeom>
          <a:noFill/>
          <a:ln/>
        </p:spPr>
        <p:txBody>
          <a:bodyPr wrap="square" lIns="0" tIns="0" rIns="0" bIns="0" rtlCol="0" anchor="t">
            <a:normAutofit/>
          </a:bodyPr>
          <a:lstStyle/>
          <a:p>
            <a:pPr algn="l" indent="0" marL="0">
              <a:lnSpc>
                <a:spcPts val="3920"/>
              </a:lnSpc>
              <a:buNone/>
            </a:pPr>
            <a:r>
              <a:rPr lang="en-US" sz="2800" dirty="0">
                <a:solidFill>
                  <a:srgbClr val="14213D"/>
                </a:solidFill>
                <a:latin typeface="Helvetica" pitchFamily="34" charset="0"/>
                <a:ea typeface="Helvetica" pitchFamily="34" charset="-122"/>
                <a:cs typeface="Helvetica" pitchFamily="34" charset="-120"/>
              </a:rPr>
              <a:t>→</a:t>
            </a:r>
            <a:endParaRPr lang="en-US" sz="2800" dirty="0"/>
          </a:p>
        </p:txBody>
      </p:sp>
      <p:sp>
        <p:nvSpPr>
          <p:cNvPr id="16" name="Shape 14"/>
          <p:cNvSpPr/>
          <p:nvPr/>
        </p:nvSpPr>
        <p:spPr>
          <a:xfrm>
            <a:off x="8839200" y="1735455"/>
            <a:ext cx="2540000" cy="1808480"/>
          </a:xfrm>
          <a:prstGeom prst="roundRect">
            <a:avLst>
              <a:gd name="adj" fmla="val 5618"/>
            </a:avLst>
          </a:prstGeom>
          <a:solidFill>
            <a:srgbClr val="0F9D8A"/>
          </a:solidFill>
          <a:ln/>
        </p:spPr>
      </p:sp>
      <p:sp>
        <p:nvSpPr>
          <p:cNvPr id="17" name="Text 15"/>
          <p:cNvSpPr/>
          <p:nvPr/>
        </p:nvSpPr>
        <p:spPr>
          <a:xfrm>
            <a:off x="9042400" y="1938655"/>
            <a:ext cx="2197608"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FFFFF"/>
                </a:solidFill>
                <a:latin typeface="Helvetica" pitchFamily="34" charset="0"/>
                <a:ea typeface="Helvetica" pitchFamily="34" charset="-122"/>
                <a:cs typeface="Helvetica" pitchFamily="34" charset="-120"/>
              </a:rPr>
              <a:t>Final score</a:t>
            </a:r>
            <a:endParaRPr lang="en-US" sz="1700" dirty="0"/>
          </a:p>
        </p:txBody>
      </p:sp>
      <p:sp>
        <p:nvSpPr>
          <p:cNvPr id="18" name="Text 16"/>
          <p:cNvSpPr/>
          <p:nvPr/>
        </p:nvSpPr>
        <p:spPr>
          <a:xfrm>
            <a:off x="9042400" y="2273936"/>
            <a:ext cx="2197608" cy="5537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FFFFFF"/>
                </a:solidFill>
                <a:latin typeface="Helvetica" pitchFamily="34" charset="0"/>
                <a:ea typeface="Helvetica" pitchFamily="34" charset="-122"/>
                <a:cs typeface="Helvetica" pitchFamily="34" charset="-120"/>
              </a:rPr>
              <a:t>α·Score P + (1−α)·Score S</a:t>
            </a:r>
            <a:endParaRPr lang="en-US" sz="1600" dirty="0"/>
          </a:p>
        </p:txBody>
      </p:sp>
      <p:sp>
        <p:nvSpPr>
          <p:cNvPr id="19" name="Text 17"/>
          <p:cNvSpPr/>
          <p:nvPr/>
        </p:nvSpPr>
        <p:spPr>
          <a:xfrm>
            <a:off x="9042400" y="2878455"/>
            <a:ext cx="2197608" cy="4876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FFFFF"/>
                </a:solidFill>
                <a:latin typeface="Helvetica" pitchFamily="34" charset="0"/>
                <a:ea typeface="Helvetica" pitchFamily="34" charset="-122"/>
                <a:cs typeface="Helvetica" pitchFamily="34" charset="-120"/>
              </a:rPr>
              <a:t>Score ≥ threshold λ means anomaly</a:t>
            </a:r>
            <a:endParaRPr lang="en-US" sz="1400" dirty="0"/>
          </a:p>
        </p:txBody>
      </p:sp>
      <p:sp>
        <p:nvSpPr>
          <p:cNvPr id="20" name="Text 18"/>
          <p:cNvSpPr/>
          <p:nvPr/>
        </p:nvSpPr>
        <p:spPr>
          <a:xfrm>
            <a:off x="812800" y="4222750"/>
            <a:ext cx="10883392"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4213D"/>
                </a:solidFill>
                <a:latin typeface="Helvetica" pitchFamily="34" charset="0"/>
                <a:ea typeface="Helvetica" pitchFamily="34" charset="-122"/>
                <a:cs typeface="Helvetica" pitchFamily="34" charset="-120"/>
              </a:rPr>
              <a:t>Training: the loss (MSE) pulls the two guesses together on normal data. At test time, disagreement means anomaly. Only about 12.6K parameters.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F"/>
        </a:solidFill>
      </p:bgPr>
    </p:bg>
    <p:spTree>
      <p:nvGrpSpPr>
        <p:cNvPr id="1" name=""/>
        <p:cNvGrpSpPr/>
        <p:nvPr/>
      </p:nvGrpSpPr>
      <p:grpSpPr>
        <a:xfrm>
          <a:off x="0" y="0"/>
          <a:ext cx="0" cy="0"/>
          <a:chOff x="0" y="0"/>
          <a:chExt cx="0" cy="0"/>
        </a:xfrm>
      </p:grpSpPr>
      <p:sp>
        <p:nvSpPr>
          <p:cNvPr id="2" name="Text 0"/>
          <p:cNvSpPr/>
          <p:nvPr>
            <p:ph type="title"/>
          </p:nvPr>
        </p:nvSpPr>
        <p:spPr>
          <a:xfrm>
            <a:off x="812800" y="6096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Helvetica" pitchFamily="34" charset="0"/>
                <a:ea typeface="Helvetica" pitchFamily="34" charset="-122"/>
                <a:cs typeface="Helvetica" pitchFamily="34" charset="-120"/>
              </a:rPr>
              <a:t>Architecture of the point-level MLPs</a:t>
            </a:r>
            <a:endParaRPr lang="en-US" sz="3200" dirty="0"/>
          </a:p>
        </p:txBody>
      </p:sp>
      <p:sp>
        <p:nvSpPr>
          <p:cNvPr id="3" name="Shape 1"/>
          <p:cNvSpPr/>
          <p:nvPr/>
        </p:nvSpPr>
        <p:spPr>
          <a:xfrm>
            <a:off x="812800" y="1259839"/>
            <a:ext cx="5194300" cy="4231640"/>
          </a:xfrm>
          <a:prstGeom prst="roundRect">
            <a:avLst>
              <a:gd name="adj" fmla="val 2401"/>
            </a:avLst>
          </a:prstGeom>
          <a:solidFill>
            <a:srgbClr val="FFFFFF"/>
          </a:solidFill>
          <a:ln/>
        </p:spPr>
      </p:sp>
      <p:sp>
        <p:nvSpPr>
          <p:cNvPr id="4" name="Shape 2"/>
          <p:cNvSpPr/>
          <p:nvPr/>
        </p:nvSpPr>
        <p:spPr>
          <a:xfrm>
            <a:off x="812800" y="1259839"/>
            <a:ext cx="5194300" cy="4231640"/>
          </a:xfrm>
          <a:custGeom>
            <a:avLst/>
            <a:gdLst/>
            <a:ahLst/>
            <a:cxnLst/>
            <a:rect l="l" t="t" r="r" b="b"/>
            <a:pathLst>
              <a:path w="5194300" h="4231640">
                <a:moveTo>
                  <a:pt x="0" y="101600"/>
                </a:moveTo>
                <a:lnTo>
                  <a:pt x="0" y="101600"/>
                </a:lnTo>
                <a:arcTo hR="101600" wR="101600" stAng="10800000" swAng="5400000"/>
                <a:lnTo>
                  <a:pt x="5092700" y="0"/>
                </a:lnTo>
                <a:arcTo hR="101600" wR="101600" stAng="16200000" swAng="5400000"/>
                <a:lnTo>
                  <a:pt x="5194300" y="101600"/>
                </a:lnTo>
                <a:arcTo hR="50800" wR="101600" stAng="0" swAng="-5400000"/>
                <a:lnTo>
                  <a:pt x="101600" y="50800"/>
                </a:lnTo>
                <a:arcTo hR="50800" wR="101600" stAng="16200000" swAng="-5400000"/>
                <a:close/>
              </a:path>
            </a:pathLst>
          </a:custGeom>
          <a:solidFill>
            <a:srgbClr val="2F6FDB"/>
          </a:solidFill>
          <a:ln/>
        </p:spPr>
      </p:sp>
      <p:sp>
        <p:nvSpPr>
          <p:cNvPr id="5" name="Text 3"/>
          <p:cNvSpPr/>
          <p:nvPr/>
        </p:nvSpPr>
        <p:spPr>
          <a:xfrm>
            <a:off x="1041400" y="1488439"/>
            <a:ext cx="487921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F6FDB"/>
                </a:solidFill>
                <a:latin typeface="Helvetica" pitchFamily="34" charset="0"/>
                <a:ea typeface="Helvetica" pitchFamily="34" charset="-122"/>
                <a:cs typeface="Helvetica" pitchFamily="34" charset="-120"/>
              </a:rPr>
              <a:t>MLP 1: local association</a:t>
            </a:r>
            <a:endParaRPr lang="en-US" sz="1800" dirty="0"/>
          </a:p>
        </p:txBody>
      </p:sp>
      <p:pic>
        <p:nvPicPr>
          <p:cNvPr id="6" name="Image 0" descr="MLP 1: input P₂ − 1, hidden d, output 1">    </p:cNvPr>
          <p:cNvPicPr>
            <a:picLocks noChangeAspect="1"/>
          </p:cNvPicPr>
          <p:nvPr/>
        </p:nvPicPr>
        <p:blipFill>
          <a:blip r:embed="rId1"/>
          <a:srcRect l="0" r="0" t="0" b="0"/>
          <a:stretch/>
        </p:blipFill>
        <p:spPr>
          <a:xfrm>
            <a:off x="1041400" y="1826261"/>
            <a:ext cx="4737100" cy="2667000"/>
          </a:xfrm>
          <a:prstGeom prst="rect">
            <a:avLst/>
          </a:prstGeom>
        </p:spPr>
      </p:pic>
      <p:sp>
        <p:nvSpPr>
          <p:cNvPr id="7" name="Text 4"/>
          <p:cNvSpPr/>
          <p:nvPr/>
        </p:nvSpPr>
        <p:spPr>
          <a:xfrm>
            <a:off x="1041400" y="4556761"/>
            <a:ext cx="4879213"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4213D"/>
                </a:solidFill>
                <a:latin typeface="Helvetica" pitchFamily="34" charset="0"/>
                <a:ea typeface="Helvetica" pitchFamily="34" charset="-122"/>
                <a:cs typeface="Helvetica" pitchFamily="34" charset="-120"/>
              </a:rPr>
              <a:t>Rebuilds one timestamp from the other points in its row.</a:t>
            </a:r>
            <a:endParaRPr lang="en-US" sz="1400" dirty="0"/>
          </a:p>
        </p:txBody>
      </p:sp>
      <p:sp>
        <p:nvSpPr>
          <p:cNvPr id="8" name="Text 5"/>
          <p:cNvSpPr/>
          <p:nvPr/>
        </p:nvSpPr>
        <p:spPr>
          <a:xfrm>
            <a:off x="1041400" y="4851400"/>
            <a:ext cx="4879213"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470"/>
                </a:solidFill>
                <a:latin typeface="Helvetica" pitchFamily="34" charset="0"/>
                <a:ea typeface="Helvetica" pitchFamily="34" charset="-122"/>
                <a:cs typeface="Helvetica" pitchFamily="34" charset="-120"/>
              </a:rPr>
              <a:t>Parameters: (P₂−1)×d + d×1</a:t>
            </a:r>
            <a:endParaRPr lang="en-US" sz="1300" dirty="0"/>
          </a:p>
        </p:txBody>
      </p:sp>
      <p:sp>
        <p:nvSpPr>
          <p:cNvPr id="9" name="Shape 6"/>
          <p:cNvSpPr/>
          <p:nvPr/>
        </p:nvSpPr>
        <p:spPr>
          <a:xfrm>
            <a:off x="6184900" y="1259839"/>
            <a:ext cx="5194300" cy="4231640"/>
          </a:xfrm>
          <a:prstGeom prst="roundRect">
            <a:avLst>
              <a:gd name="adj" fmla="val 2401"/>
            </a:avLst>
          </a:prstGeom>
          <a:solidFill>
            <a:srgbClr val="FFFFFF"/>
          </a:solidFill>
          <a:ln/>
        </p:spPr>
      </p:sp>
      <p:sp>
        <p:nvSpPr>
          <p:cNvPr id="10" name="Shape 7"/>
          <p:cNvSpPr/>
          <p:nvPr/>
        </p:nvSpPr>
        <p:spPr>
          <a:xfrm>
            <a:off x="6184900" y="1259839"/>
            <a:ext cx="5194300" cy="4231640"/>
          </a:xfrm>
          <a:custGeom>
            <a:avLst/>
            <a:gdLst/>
            <a:ahLst/>
            <a:cxnLst/>
            <a:rect l="l" t="t" r="r" b="b"/>
            <a:pathLst>
              <a:path w="5194300" h="4231640">
                <a:moveTo>
                  <a:pt x="0" y="101600"/>
                </a:moveTo>
                <a:lnTo>
                  <a:pt x="0" y="101600"/>
                </a:lnTo>
                <a:arcTo hR="101600" wR="101600" stAng="10800000" swAng="5400000"/>
                <a:lnTo>
                  <a:pt x="5092700" y="0"/>
                </a:lnTo>
                <a:arcTo hR="101600" wR="101600" stAng="16200000" swAng="5400000"/>
                <a:lnTo>
                  <a:pt x="5194300" y="101600"/>
                </a:lnTo>
                <a:arcTo hR="50800" wR="101600" stAng="0" swAng="-5400000"/>
                <a:lnTo>
                  <a:pt x="101600" y="50800"/>
                </a:lnTo>
                <a:arcTo hR="50800" wR="101600" stAng="16200000" swAng="-5400000"/>
                <a:close/>
              </a:path>
            </a:pathLst>
          </a:custGeom>
          <a:solidFill>
            <a:srgbClr val="E8743B"/>
          </a:solidFill>
          <a:ln/>
        </p:spPr>
      </p:sp>
      <p:sp>
        <p:nvSpPr>
          <p:cNvPr id="11" name="Text 8"/>
          <p:cNvSpPr/>
          <p:nvPr/>
        </p:nvSpPr>
        <p:spPr>
          <a:xfrm>
            <a:off x="6413500" y="1488439"/>
            <a:ext cx="487921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8743B"/>
                </a:solidFill>
                <a:latin typeface="Helvetica" pitchFamily="34" charset="0"/>
                <a:ea typeface="Helvetica" pitchFamily="34" charset="-122"/>
                <a:cs typeface="Helvetica" pitchFamily="34" charset="-120"/>
              </a:rPr>
              <a:t>MLP 2: global association</a:t>
            </a:r>
            <a:endParaRPr lang="en-US" sz="1800" dirty="0"/>
          </a:p>
        </p:txBody>
      </p:sp>
      <p:pic>
        <p:nvPicPr>
          <p:cNvPr id="12" name="Image 1" descr="MLP 2: input P₁ − 1, hidden d, output 1">    </p:cNvPr>
          <p:cNvPicPr>
            <a:picLocks noChangeAspect="1"/>
          </p:cNvPicPr>
          <p:nvPr/>
        </p:nvPicPr>
        <p:blipFill>
          <a:blip r:embed="rId2"/>
          <a:srcRect l="0" r="0" t="0" b="0"/>
          <a:stretch/>
        </p:blipFill>
        <p:spPr>
          <a:xfrm>
            <a:off x="6413500" y="1826261"/>
            <a:ext cx="4737100" cy="2667000"/>
          </a:xfrm>
          <a:prstGeom prst="rect">
            <a:avLst/>
          </a:prstGeom>
        </p:spPr>
      </p:pic>
      <p:sp>
        <p:nvSpPr>
          <p:cNvPr id="13" name="Text 9"/>
          <p:cNvSpPr/>
          <p:nvPr/>
        </p:nvSpPr>
        <p:spPr>
          <a:xfrm>
            <a:off x="6413500" y="4556761"/>
            <a:ext cx="4879213" cy="4876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4213D"/>
                </a:solidFill>
                <a:latin typeface="Helvetica" pitchFamily="34" charset="0"/>
                <a:ea typeface="Helvetica" pitchFamily="34" charset="-122"/>
                <a:cs typeface="Helvetica" pitchFamily="34" charset="-120"/>
              </a:rPr>
              <a:t>Rebuilds the same timestamp from points one period apart (its column).</a:t>
            </a:r>
            <a:endParaRPr lang="en-US" sz="1400" dirty="0"/>
          </a:p>
        </p:txBody>
      </p:sp>
      <p:sp>
        <p:nvSpPr>
          <p:cNvPr id="14" name="Text 10"/>
          <p:cNvSpPr/>
          <p:nvPr/>
        </p:nvSpPr>
        <p:spPr>
          <a:xfrm>
            <a:off x="6413500" y="5082539"/>
            <a:ext cx="4879213"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470"/>
                </a:solidFill>
                <a:latin typeface="Helvetica" pitchFamily="34" charset="0"/>
                <a:ea typeface="Helvetica" pitchFamily="34" charset="-122"/>
                <a:cs typeface="Helvetica" pitchFamily="34" charset="-120"/>
              </a:rPr>
              <a:t>Parameters: (P₁−1)×d + d×1</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F"/>
        </a:solidFill>
      </p:bgPr>
    </p:bg>
    <p:spTree>
      <p:nvGrpSpPr>
        <p:cNvPr id="1" name=""/>
        <p:cNvGrpSpPr/>
        <p:nvPr/>
      </p:nvGrpSpPr>
      <p:grpSpPr>
        <a:xfrm>
          <a:off x="0" y="0"/>
          <a:ext cx="0" cy="0"/>
          <a:chOff x="0" y="0"/>
          <a:chExt cx="0" cy="0"/>
        </a:xfrm>
      </p:grpSpPr>
      <p:sp>
        <p:nvSpPr>
          <p:cNvPr id="2" name="Text 0"/>
          <p:cNvSpPr/>
          <p:nvPr>
            <p:ph type="title"/>
          </p:nvPr>
        </p:nvSpPr>
        <p:spPr>
          <a:xfrm>
            <a:off x="812800" y="6096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Helvetica" pitchFamily="34" charset="0"/>
                <a:ea typeface="Helvetica" pitchFamily="34" charset="-122"/>
                <a:cs typeface="Helvetica" pitchFamily="34" charset="-120"/>
              </a:rPr>
              <a:t>Architecture of the sequence-level MLPs</a:t>
            </a:r>
            <a:endParaRPr lang="en-US" sz="3200" dirty="0"/>
          </a:p>
        </p:txBody>
      </p:sp>
      <p:sp>
        <p:nvSpPr>
          <p:cNvPr id="3" name="Shape 1"/>
          <p:cNvSpPr/>
          <p:nvPr/>
        </p:nvSpPr>
        <p:spPr>
          <a:xfrm>
            <a:off x="812800" y="1259839"/>
            <a:ext cx="5194300" cy="4231640"/>
          </a:xfrm>
          <a:prstGeom prst="roundRect">
            <a:avLst>
              <a:gd name="adj" fmla="val 2401"/>
            </a:avLst>
          </a:prstGeom>
          <a:solidFill>
            <a:srgbClr val="FFFFFF"/>
          </a:solidFill>
          <a:ln/>
        </p:spPr>
      </p:sp>
      <p:sp>
        <p:nvSpPr>
          <p:cNvPr id="4" name="Shape 2"/>
          <p:cNvSpPr/>
          <p:nvPr/>
        </p:nvSpPr>
        <p:spPr>
          <a:xfrm>
            <a:off x="812800" y="1259839"/>
            <a:ext cx="5194300" cy="4231640"/>
          </a:xfrm>
          <a:custGeom>
            <a:avLst/>
            <a:gdLst/>
            <a:ahLst/>
            <a:cxnLst/>
            <a:rect l="l" t="t" r="r" b="b"/>
            <a:pathLst>
              <a:path w="5194300" h="4231640">
                <a:moveTo>
                  <a:pt x="0" y="101600"/>
                </a:moveTo>
                <a:lnTo>
                  <a:pt x="0" y="101600"/>
                </a:lnTo>
                <a:arcTo hR="101600" wR="101600" stAng="10800000" swAng="5400000"/>
                <a:lnTo>
                  <a:pt x="5092700" y="0"/>
                </a:lnTo>
                <a:arcTo hR="101600" wR="101600" stAng="16200000" swAng="5400000"/>
                <a:lnTo>
                  <a:pt x="5194300" y="101600"/>
                </a:lnTo>
                <a:arcTo hR="50800" wR="101600" stAng="0" swAng="-5400000"/>
                <a:lnTo>
                  <a:pt x="101600" y="50800"/>
                </a:lnTo>
                <a:arcTo hR="50800" wR="101600" stAng="16200000" swAng="-5400000"/>
                <a:close/>
              </a:path>
            </a:pathLst>
          </a:custGeom>
          <a:solidFill>
            <a:srgbClr val="2F6FDB"/>
          </a:solidFill>
          <a:ln/>
        </p:spPr>
      </p:sp>
      <p:sp>
        <p:nvSpPr>
          <p:cNvPr id="5" name="Text 3"/>
          <p:cNvSpPr/>
          <p:nvPr/>
        </p:nvSpPr>
        <p:spPr>
          <a:xfrm>
            <a:off x="1041400" y="1488439"/>
            <a:ext cx="487921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F6FDB"/>
                </a:solidFill>
                <a:latin typeface="Helvetica" pitchFamily="34" charset="0"/>
                <a:ea typeface="Helvetica" pitchFamily="34" charset="-122"/>
                <a:cs typeface="Helvetica" pitchFamily="34" charset="-120"/>
              </a:rPr>
              <a:t>MLP 3: local association</a:t>
            </a:r>
            <a:endParaRPr lang="en-US" sz="1800" dirty="0"/>
          </a:p>
        </p:txBody>
      </p:sp>
      <p:pic>
        <p:nvPicPr>
          <p:cNvPr id="6" name="Image 0" descr="MLP 3: input (S₂−1)×S₃, hidden d, output S₃">    </p:cNvPr>
          <p:cNvPicPr>
            <a:picLocks noChangeAspect="1"/>
          </p:cNvPicPr>
          <p:nvPr/>
        </p:nvPicPr>
        <p:blipFill>
          <a:blip r:embed="rId1"/>
          <a:srcRect l="0" r="0" t="0" b="0"/>
          <a:stretch/>
        </p:blipFill>
        <p:spPr>
          <a:xfrm>
            <a:off x="1041400" y="1826261"/>
            <a:ext cx="4737100" cy="2667000"/>
          </a:xfrm>
          <a:prstGeom prst="rect">
            <a:avLst/>
          </a:prstGeom>
        </p:spPr>
      </p:pic>
      <p:sp>
        <p:nvSpPr>
          <p:cNvPr id="7" name="Text 4"/>
          <p:cNvSpPr/>
          <p:nvPr/>
        </p:nvSpPr>
        <p:spPr>
          <a:xfrm>
            <a:off x="1041400" y="4556761"/>
            <a:ext cx="4879213" cy="4876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4213D"/>
                </a:solidFill>
                <a:latin typeface="Helvetica" pitchFamily="34" charset="0"/>
                <a:ea typeface="Helvetica" pitchFamily="34" charset="-122"/>
                <a:cs typeface="Helvetica" pitchFamily="34" charset="-120"/>
              </a:rPr>
              <a:t>Rebuilds a short substitute sequence of S₃ points from the local segments in its row.</a:t>
            </a:r>
            <a:endParaRPr lang="en-US" sz="1400" dirty="0"/>
          </a:p>
        </p:txBody>
      </p:sp>
      <p:sp>
        <p:nvSpPr>
          <p:cNvPr id="8" name="Text 5"/>
          <p:cNvSpPr/>
          <p:nvPr/>
        </p:nvSpPr>
        <p:spPr>
          <a:xfrm>
            <a:off x="1041400" y="5082539"/>
            <a:ext cx="4879213"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470"/>
                </a:solidFill>
                <a:latin typeface="Helvetica" pitchFamily="34" charset="0"/>
                <a:ea typeface="Helvetica" pitchFamily="34" charset="-122"/>
                <a:cs typeface="Helvetica" pitchFamily="34" charset="-120"/>
              </a:rPr>
              <a:t>Parameters: (S₂−1)×S₃×d + d×S₃</a:t>
            </a:r>
            <a:endParaRPr lang="en-US" sz="1300" dirty="0"/>
          </a:p>
        </p:txBody>
      </p:sp>
      <p:sp>
        <p:nvSpPr>
          <p:cNvPr id="9" name="Shape 6"/>
          <p:cNvSpPr/>
          <p:nvPr/>
        </p:nvSpPr>
        <p:spPr>
          <a:xfrm>
            <a:off x="6184900" y="1259839"/>
            <a:ext cx="5194300" cy="4231640"/>
          </a:xfrm>
          <a:prstGeom prst="roundRect">
            <a:avLst>
              <a:gd name="adj" fmla="val 2401"/>
            </a:avLst>
          </a:prstGeom>
          <a:solidFill>
            <a:srgbClr val="FFFFFF"/>
          </a:solidFill>
          <a:ln/>
        </p:spPr>
      </p:sp>
      <p:sp>
        <p:nvSpPr>
          <p:cNvPr id="10" name="Shape 7"/>
          <p:cNvSpPr/>
          <p:nvPr/>
        </p:nvSpPr>
        <p:spPr>
          <a:xfrm>
            <a:off x="6184900" y="1259839"/>
            <a:ext cx="5194300" cy="4231640"/>
          </a:xfrm>
          <a:custGeom>
            <a:avLst/>
            <a:gdLst/>
            <a:ahLst/>
            <a:cxnLst/>
            <a:rect l="l" t="t" r="r" b="b"/>
            <a:pathLst>
              <a:path w="5194300" h="4231640">
                <a:moveTo>
                  <a:pt x="0" y="101600"/>
                </a:moveTo>
                <a:lnTo>
                  <a:pt x="0" y="101600"/>
                </a:lnTo>
                <a:arcTo hR="101600" wR="101600" stAng="10800000" swAng="5400000"/>
                <a:lnTo>
                  <a:pt x="5092700" y="0"/>
                </a:lnTo>
                <a:arcTo hR="101600" wR="101600" stAng="16200000" swAng="5400000"/>
                <a:lnTo>
                  <a:pt x="5194300" y="101600"/>
                </a:lnTo>
                <a:arcTo hR="50800" wR="101600" stAng="0" swAng="-5400000"/>
                <a:lnTo>
                  <a:pt x="101600" y="50800"/>
                </a:lnTo>
                <a:arcTo hR="50800" wR="101600" stAng="16200000" swAng="-5400000"/>
                <a:close/>
              </a:path>
            </a:pathLst>
          </a:custGeom>
          <a:solidFill>
            <a:srgbClr val="E8743B"/>
          </a:solidFill>
          <a:ln/>
        </p:spPr>
      </p:sp>
      <p:sp>
        <p:nvSpPr>
          <p:cNvPr id="11" name="Text 8"/>
          <p:cNvSpPr/>
          <p:nvPr/>
        </p:nvSpPr>
        <p:spPr>
          <a:xfrm>
            <a:off x="6413500" y="1488439"/>
            <a:ext cx="487921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8743B"/>
                </a:solidFill>
                <a:latin typeface="Helvetica" pitchFamily="34" charset="0"/>
                <a:ea typeface="Helvetica" pitchFamily="34" charset="-122"/>
                <a:cs typeface="Helvetica" pitchFamily="34" charset="-120"/>
              </a:rPr>
              <a:t>MLP 4: global association</a:t>
            </a:r>
            <a:endParaRPr lang="en-US" sz="1800" dirty="0"/>
          </a:p>
        </p:txBody>
      </p:sp>
      <p:pic>
        <p:nvPicPr>
          <p:cNvPr id="12" name="Image 1" descr="MLP 4: input (S₁−1)×S₃, hidden d, output S₃">    </p:cNvPr>
          <p:cNvPicPr>
            <a:picLocks noChangeAspect="1"/>
          </p:cNvPicPr>
          <p:nvPr/>
        </p:nvPicPr>
        <p:blipFill>
          <a:blip r:embed="rId2"/>
          <a:srcRect l="0" r="0" t="0" b="0"/>
          <a:stretch/>
        </p:blipFill>
        <p:spPr>
          <a:xfrm>
            <a:off x="6413500" y="1826261"/>
            <a:ext cx="4737100" cy="2667000"/>
          </a:xfrm>
          <a:prstGeom prst="rect">
            <a:avLst/>
          </a:prstGeom>
        </p:spPr>
      </p:pic>
      <p:sp>
        <p:nvSpPr>
          <p:cNvPr id="13" name="Text 9"/>
          <p:cNvSpPr/>
          <p:nvPr/>
        </p:nvSpPr>
        <p:spPr>
          <a:xfrm>
            <a:off x="6413500" y="4556761"/>
            <a:ext cx="4879213" cy="4876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4213D"/>
                </a:solidFill>
                <a:latin typeface="Helvetica" pitchFamily="34" charset="0"/>
                <a:ea typeface="Helvetica" pitchFamily="34" charset="-122"/>
                <a:cs typeface="Helvetica" pitchFamily="34" charset="-120"/>
              </a:rPr>
              <a:t>Rebuilds the same substitute sequence from segments one period apart (its column).</a:t>
            </a:r>
            <a:endParaRPr lang="en-US" sz="1400" dirty="0"/>
          </a:p>
        </p:txBody>
      </p:sp>
      <p:sp>
        <p:nvSpPr>
          <p:cNvPr id="14" name="Text 10"/>
          <p:cNvSpPr/>
          <p:nvPr/>
        </p:nvSpPr>
        <p:spPr>
          <a:xfrm>
            <a:off x="6413500" y="5082539"/>
            <a:ext cx="4879213"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470"/>
                </a:solidFill>
                <a:latin typeface="Helvetica" pitchFamily="34" charset="0"/>
                <a:ea typeface="Helvetica" pitchFamily="34" charset="-122"/>
                <a:cs typeface="Helvetica" pitchFamily="34" charset="-120"/>
              </a:rPr>
              <a:t>Parameters: (S₁−1)×S₃×d + d×S₃</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F"/>
        </a:solidFill>
      </p:bgPr>
    </p:bg>
    <p:spTree>
      <p:nvGrpSpPr>
        <p:cNvPr id="1" name=""/>
        <p:cNvGrpSpPr/>
        <p:nvPr/>
      </p:nvGrpSpPr>
      <p:grpSpPr>
        <a:xfrm>
          <a:off x="0" y="0"/>
          <a:ext cx="0" cy="0"/>
          <a:chOff x="0" y="0"/>
          <a:chExt cx="0" cy="0"/>
        </a:xfrm>
      </p:grpSpPr>
      <p:sp>
        <p:nvSpPr>
          <p:cNvPr id="2" name="Text 0"/>
          <p:cNvSpPr/>
          <p:nvPr>
            <p:ph type="title"/>
          </p:nvPr>
        </p:nvSpPr>
        <p:spPr>
          <a:xfrm>
            <a:off x="812800" y="6096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Helvetica" pitchFamily="34" charset="0"/>
                <a:ea typeface="Helvetica" pitchFamily="34" charset="-122"/>
                <a:cs typeface="Helvetica" pitchFamily="34" charset="-120"/>
              </a:rPr>
              <a:t>Why two levels? Explicit vs implicit anomalies</a:t>
            </a:r>
            <a:endParaRPr lang="en-US" sz="3200" dirty="0"/>
          </a:p>
        </p:txBody>
      </p:sp>
      <p:sp>
        <p:nvSpPr>
          <p:cNvPr id="3" name="Shape 1"/>
          <p:cNvSpPr/>
          <p:nvPr/>
        </p:nvSpPr>
        <p:spPr>
          <a:xfrm>
            <a:off x="812800" y="1285239"/>
            <a:ext cx="3302000" cy="3779520"/>
          </a:xfrm>
          <a:prstGeom prst="roundRect">
            <a:avLst>
              <a:gd name="adj" fmla="val 3077"/>
            </a:avLst>
          </a:prstGeom>
          <a:solidFill>
            <a:srgbClr val="FFFFFF"/>
          </a:solidFill>
          <a:ln/>
        </p:spPr>
      </p:sp>
      <p:sp>
        <p:nvSpPr>
          <p:cNvPr id="4" name="Text 2"/>
          <p:cNvSpPr/>
          <p:nvPr/>
        </p:nvSpPr>
        <p:spPr>
          <a:xfrm>
            <a:off x="1016000" y="1488439"/>
            <a:ext cx="2346293"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Helvetica" pitchFamily="34" charset="0"/>
                <a:ea typeface="Helvetica" pitchFamily="34" charset="-122"/>
                <a:cs typeface="Helvetica" pitchFamily="34" charset="-120"/>
              </a:rPr>
              <a:t>Neighbor sampling</a:t>
            </a:r>
            <a:endParaRPr lang="en-US" sz="1700" dirty="0"/>
          </a:p>
        </p:txBody>
      </p:sp>
      <p:sp>
        <p:nvSpPr>
          <p:cNvPr id="5" name="Shape 3"/>
          <p:cNvSpPr/>
          <p:nvPr/>
        </p:nvSpPr>
        <p:spPr>
          <a:xfrm>
            <a:off x="1016000" y="1861821"/>
            <a:ext cx="457200" cy="457200"/>
          </a:xfrm>
          <a:prstGeom prst="roundRect">
            <a:avLst>
              <a:gd name="adj" fmla="val 11111"/>
            </a:avLst>
          </a:prstGeom>
          <a:solidFill>
            <a:srgbClr val="ECE8DF"/>
          </a:solidFill>
          <a:ln/>
        </p:spPr>
      </p:sp>
      <p:sp>
        <p:nvSpPr>
          <p:cNvPr id="6" name="Shape 4"/>
          <p:cNvSpPr/>
          <p:nvPr/>
        </p:nvSpPr>
        <p:spPr>
          <a:xfrm>
            <a:off x="1524000" y="1861821"/>
            <a:ext cx="457200" cy="457200"/>
          </a:xfrm>
          <a:prstGeom prst="roundRect">
            <a:avLst>
              <a:gd name="adj" fmla="val 11111"/>
            </a:avLst>
          </a:prstGeom>
          <a:solidFill>
            <a:srgbClr val="ECE8DF"/>
          </a:solidFill>
          <a:ln/>
        </p:spPr>
      </p:sp>
      <p:sp>
        <p:nvSpPr>
          <p:cNvPr id="7" name="Shape 5"/>
          <p:cNvSpPr/>
          <p:nvPr/>
        </p:nvSpPr>
        <p:spPr>
          <a:xfrm>
            <a:off x="2032000" y="1861821"/>
            <a:ext cx="457200" cy="457200"/>
          </a:xfrm>
          <a:prstGeom prst="roundRect">
            <a:avLst>
              <a:gd name="adj" fmla="val 11111"/>
            </a:avLst>
          </a:prstGeom>
          <a:solidFill>
            <a:srgbClr val="F6C6AE"/>
          </a:solidFill>
          <a:ln/>
        </p:spPr>
      </p:sp>
      <p:sp>
        <p:nvSpPr>
          <p:cNvPr id="8" name="Shape 6"/>
          <p:cNvSpPr/>
          <p:nvPr/>
        </p:nvSpPr>
        <p:spPr>
          <a:xfrm>
            <a:off x="2540000" y="1861821"/>
            <a:ext cx="457200" cy="457200"/>
          </a:xfrm>
          <a:prstGeom prst="roundRect">
            <a:avLst>
              <a:gd name="adj" fmla="val 11111"/>
            </a:avLst>
          </a:prstGeom>
          <a:solidFill>
            <a:srgbClr val="ECE8DF"/>
          </a:solidFill>
          <a:ln/>
        </p:spPr>
      </p:sp>
      <p:sp>
        <p:nvSpPr>
          <p:cNvPr id="9" name="Shape 7"/>
          <p:cNvSpPr/>
          <p:nvPr/>
        </p:nvSpPr>
        <p:spPr>
          <a:xfrm>
            <a:off x="3048000" y="1861821"/>
            <a:ext cx="457200" cy="457200"/>
          </a:xfrm>
          <a:prstGeom prst="roundRect">
            <a:avLst>
              <a:gd name="adj" fmla="val 11111"/>
            </a:avLst>
          </a:prstGeom>
          <a:solidFill>
            <a:srgbClr val="ECE8DF"/>
          </a:solidFill>
          <a:ln/>
        </p:spPr>
      </p:sp>
      <p:sp>
        <p:nvSpPr>
          <p:cNvPr id="10" name="Shape 8"/>
          <p:cNvSpPr/>
          <p:nvPr/>
        </p:nvSpPr>
        <p:spPr>
          <a:xfrm>
            <a:off x="1016000" y="2369821"/>
            <a:ext cx="457200" cy="457200"/>
          </a:xfrm>
          <a:prstGeom prst="roundRect">
            <a:avLst>
              <a:gd name="adj" fmla="val 11111"/>
            </a:avLst>
          </a:prstGeom>
          <a:solidFill>
            <a:srgbClr val="BCD3F7"/>
          </a:solidFill>
          <a:ln/>
        </p:spPr>
      </p:sp>
      <p:sp>
        <p:nvSpPr>
          <p:cNvPr id="11" name="Shape 9"/>
          <p:cNvSpPr/>
          <p:nvPr/>
        </p:nvSpPr>
        <p:spPr>
          <a:xfrm>
            <a:off x="1524000" y="2369821"/>
            <a:ext cx="457200" cy="457200"/>
          </a:xfrm>
          <a:prstGeom prst="roundRect">
            <a:avLst>
              <a:gd name="adj" fmla="val 11111"/>
            </a:avLst>
          </a:prstGeom>
          <a:solidFill>
            <a:srgbClr val="BCD3F7"/>
          </a:solidFill>
          <a:ln/>
        </p:spPr>
      </p:sp>
      <p:sp>
        <p:nvSpPr>
          <p:cNvPr id="12" name="Shape 10"/>
          <p:cNvSpPr/>
          <p:nvPr/>
        </p:nvSpPr>
        <p:spPr>
          <a:xfrm>
            <a:off x="2032000" y="2369821"/>
            <a:ext cx="457200" cy="457200"/>
          </a:xfrm>
          <a:prstGeom prst="roundRect">
            <a:avLst>
              <a:gd name="adj" fmla="val 11111"/>
            </a:avLst>
          </a:prstGeom>
          <a:solidFill>
            <a:srgbClr val="D6336C"/>
          </a:solidFill>
          <a:ln/>
        </p:spPr>
      </p:sp>
      <p:sp>
        <p:nvSpPr>
          <p:cNvPr id="13" name="Shape 11"/>
          <p:cNvSpPr/>
          <p:nvPr/>
        </p:nvSpPr>
        <p:spPr>
          <a:xfrm>
            <a:off x="2540000" y="2369821"/>
            <a:ext cx="457200" cy="457200"/>
          </a:xfrm>
          <a:prstGeom prst="roundRect">
            <a:avLst>
              <a:gd name="adj" fmla="val 11111"/>
            </a:avLst>
          </a:prstGeom>
          <a:solidFill>
            <a:srgbClr val="BCD3F7"/>
          </a:solidFill>
          <a:ln/>
        </p:spPr>
      </p:sp>
      <p:sp>
        <p:nvSpPr>
          <p:cNvPr id="14" name="Shape 12"/>
          <p:cNvSpPr/>
          <p:nvPr/>
        </p:nvSpPr>
        <p:spPr>
          <a:xfrm>
            <a:off x="3048000" y="2369821"/>
            <a:ext cx="457200" cy="457200"/>
          </a:xfrm>
          <a:prstGeom prst="roundRect">
            <a:avLst>
              <a:gd name="adj" fmla="val 11111"/>
            </a:avLst>
          </a:prstGeom>
          <a:solidFill>
            <a:srgbClr val="BCD3F7"/>
          </a:solidFill>
          <a:ln/>
        </p:spPr>
      </p:sp>
      <p:sp>
        <p:nvSpPr>
          <p:cNvPr id="15" name="Shape 13"/>
          <p:cNvSpPr/>
          <p:nvPr/>
        </p:nvSpPr>
        <p:spPr>
          <a:xfrm>
            <a:off x="1016000" y="2877821"/>
            <a:ext cx="457200" cy="457200"/>
          </a:xfrm>
          <a:prstGeom prst="roundRect">
            <a:avLst>
              <a:gd name="adj" fmla="val 11111"/>
            </a:avLst>
          </a:prstGeom>
          <a:solidFill>
            <a:srgbClr val="ECE8DF"/>
          </a:solidFill>
          <a:ln/>
        </p:spPr>
      </p:sp>
      <p:sp>
        <p:nvSpPr>
          <p:cNvPr id="16" name="Shape 14"/>
          <p:cNvSpPr/>
          <p:nvPr/>
        </p:nvSpPr>
        <p:spPr>
          <a:xfrm>
            <a:off x="1524000" y="2877821"/>
            <a:ext cx="457200" cy="457200"/>
          </a:xfrm>
          <a:prstGeom prst="roundRect">
            <a:avLst>
              <a:gd name="adj" fmla="val 11111"/>
            </a:avLst>
          </a:prstGeom>
          <a:solidFill>
            <a:srgbClr val="ECE8DF"/>
          </a:solidFill>
          <a:ln/>
        </p:spPr>
      </p:sp>
      <p:sp>
        <p:nvSpPr>
          <p:cNvPr id="17" name="Shape 15"/>
          <p:cNvSpPr/>
          <p:nvPr/>
        </p:nvSpPr>
        <p:spPr>
          <a:xfrm>
            <a:off x="2032000" y="2877821"/>
            <a:ext cx="457200" cy="457200"/>
          </a:xfrm>
          <a:prstGeom prst="roundRect">
            <a:avLst>
              <a:gd name="adj" fmla="val 11111"/>
            </a:avLst>
          </a:prstGeom>
          <a:solidFill>
            <a:srgbClr val="F6C6AE"/>
          </a:solidFill>
          <a:ln/>
        </p:spPr>
      </p:sp>
      <p:sp>
        <p:nvSpPr>
          <p:cNvPr id="18" name="Shape 16"/>
          <p:cNvSpPr/>
          <p:nvPr/>
        </p:nvSpPr>
        <p:spPr>
          <a:xfrm>
            <a:off x="2540000" y="2877821"/>
            <a:ext cx="457200" cy="457200"/>
          </a:xfrm>
          <a:prstGeom prst="roundRect">
            <a:avLst>
              <a:gd name="adj" fmla="val 11111"/>
            </a:avLst>
          </a:prstGeom>
          <a:solidFill>
            <a:srgbClr val="ECE8DF"/>
          </a:solidFill>
          <a:ln/>
        </p:spPr>
      </p:sp>
      <p:sp>
        <p:nvSpPr>
          <p:cNvPr id="19" name="Shape 17"/>
          <p:cNvSpPr/>
          <p:nvPr/>
        </p:nvSpPr>
        <p:spPr>
          <a:xfrm>
            <a:off x="3048000" y="2877821"/>
            <a:ext cx="457200" cy="457200"/>
          </a:xfrm>
          <a:prstGeom prst="roundRect">
            <a:avLst>
              <a:gd name="adj" fmla="val 11111"/>
            </a:avLst>
          </a:prstGeom>
          <a:solidFill>
            <a:srgbClr val="ECE8DF"/>
          </a:solidFill>
          <a:ln/>
        </p:spPr>
      </p:sp>
      <p:sp>
        <p:nvSpPr>
          <p:cNvPr id="20" name="Shape 18"/>
          <p:cNvSpPr/>
          <p:nvPr/>
        </p:nvSpPr>
        <p:spPr>
          <a:xfrm>
            <a:off x="1016000" y="3385821"/>
            <a:ext cx="457200" cy="457200"/>
          </a:xfrm>
          <a:prstGeom prst="roundRect">
            <a:avLst>
              <a:gd name="adj" fmla="val 11111"/>
            </a:avLst>
          </a:prstGeom>
          <a:solidFill>
            <a:srgbClr val="ECE8DF"/>
          </a:solidFill>
          <a:ln/>
        </p:spPr>
      </p:sp>
      <p:sp>
        <p:nvSpPr>
          <p:cNvPr id="21" name="Shape 19"/>
          <p:cNvSpPr/>
          <p:nvPr/>
        </p:nvSpPr>
        <p:spPr>
          <a:xfrm>
            <a:off x="1524000" y="3385821"/>
            <a:ext cx="457200" cy="457200"/>
          </a:xfrm>
          <a:prstGeom prst="roundRect">
            <a:avLst>
              <a:gd name="adj" fmla="val 11111"/>
            </a:avLst>
          </a:prstGeom>
          <a:solidFill>
            <a:srgbClr val="ECE8DF"/>
          </a:solidFill>
          <a:ln/>
        </p:spPr>
      </p:sp>
      <p:sp>
        <p:nvSpPr>
          <p:cNvPr id="22" name="Shape 20"/>
          <p:cNvSpPr/>
          <p:nvPr/>
        </p:nvSpPr>
        <p:spPr>
          <a:xfrm>
            <a:off x="2032000" y="3385821"/>
            <a:ext cx="457200" cy="457200"/>
          </a:xfrm>
          <a:prstGeom prst="roundRect">
            <a:avLst>
              <a:gd name="adj" fmla="val 11111"/>
            </a:avLst>
          </a:prstGeom>
          <a:solidFill>
            <a:srgbClr val="F6C6AE"/>
          </a:solidFill>
          <a:ln/>
        </p:spPr>
      </p:sp>
      <p:sp>
        <p:nvSpPr>
          <p:cNvPr id="23" name="Shape 21"/>
          <p:cNvSpPr/>
          <p:nvPr/>
        </p:nvSpPr>
        <p:spPr>
          <a:xfrm>
            <a:off x="2540000" y="3385821"/>
            <a:ext cx="457200" cy="457200"/>
          </a:xfrm>
          <a:prstGeom prst="roundRect">
            <a:avLst>
              <a:gd name="adj" fmla="val 11111"/>
            </a:avLst>
          </a:prstGeom>
          <a:solidFill>
            <a:srgbClr val="ECE8DF"/>
          </a:solidFill>
          <a:ln/>
        </p:spPr>
      </p:sp>
      <p:sp>
        <p:nvSpPr>
          <p:cNvPr id="24" name="Shape 22"/>
          <p:cNvSpPr/>
          <p:nvPr/>
        </p:nvSpPr>
        <p:spPr>
          <a:xfrm>
            <a:off x="3048000" y="3385821"/>
            <a:ext cx="457200" cy="457200"/>
          </a:xfrm>
          <a:prstGeom prst="roundRect">
            <a:avLst>
              <a:gd name="adj" fmla="val 11111"/>
            </a:avLst>
          </a:prstGeom>
          <a:solidFill>
            <a:srgbClr val="ECE8DF"/>
          </a:solidFill>
          <a:ln/>
        </p:spPr>
      </p:sp>
      <p:sp>
        <p:nvSpPr>
          <p:cNvPr id="25" name="Text 23"/>
          <p:cNvSpPr/>
          <p:nvPr/>
        </p:nvSpPr>
        <p:spPr>
          <a:xfrm>
            <a:off x="1016000" y="3957321"/>
            <a:ext cx="2982468" cy="91694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4213D"/>
                </a:solidFill>
                <a:latin typeface="Helvetica" pitchFamily="34" charset="0"/>
                <a:ea typeface="Helvetica" pitchFamily="34" charset="-122"/>
                <a:cs typeface="Helvetica" pitchFamily="34" charset="-120"/>
              </a:rPr>
              <a:t>A window is cut into a grid. Same row (blue) = local neighbors. Same column (orange) = global neighbors. Red = the point being tested.</a:t>
            </a:r>
            <a:endParaRPr lang="en-US" sz="1300" dirty="0"/>
          </a:p>
        </p:txBody>
      </p:sp>
      <p:sp>
        <p:nvSpPr>
          <p:cNvPr id="26" name="Shape 24"/>
          <p:cNvSpPr/>
          <p:nvPr/>
        </p:nvSpPr>
        <p:spPr>
          <a:xfrm>
            <a:off x="4368800" y="1285239"/>
            <a:ext cx="7010400" cy="1158240"/>
          </a:xfrm>
          <a:prstGeom prst="roundRect">
            <a:avLst>
              <a:gd name="adj" fmla="val 6579"/>
            </a:avLst>
          </a:prstGeom>
          <a:solidFill>
            <a:srgbClr val="FFFFFF"/>
          </a:solidFill>
          <a:ln/>
        </p:spPr>
      </p:sp>
      <p:sp>
        <p:nvSpPr>
          <p:cNvPr id="27" name="Shape 25"/>
          <p:cNvSpPr/>
          <p:nvPr/>
        </p:nvSpPr>
        <p:spPr>
          <a:xfrm>
            <a:off x="4368800" y="1285239"/>
            <a:ext cx="7010400" cy="1158240"/>
          </a:xfrm>
          <a:custGeom>
            <a:avLst/>
            <a:gdLst/>
            <a:ahLst/>
            <a:cxnLst/>
            <a:rect l="l" t="t" r="r" b="b"/>
            <a:pathLst>
              <a:path w="7010400" h="1158240">
                <a:moveTo>
                  <a:pt x="76200" y="1158240"/>
                </a:moveTo>
                <a:lnTo>
                  <a:pt x="76200" y="1158240"/>
                </a:lnTo>
                <a:arcTo hR="76200" wR="76200" stAng="5400000" swAng="5400000"/>
                <a:lnTo>
                  <a:pt x="0" y="76200"/>
                </a:lnTo>
                <a:arcTo hR="76200" wR="76200" stAng="10800000" swAng="5400000"/>
                <a:lnTo>
                  <a:pt x="76200" y="0"/>
                </a:lnTo>
                <a:arcTo hR="76200" wR="12700" stAng="16200000" swAng="-5400000"/>
                <a:lnTo>
                  <a:pt x="63500" y="1082040"/>
                </a:lnTo>
                <a:arcTo hR="76200" wR="12700" stAng="10800000" swAng="-5400000"/>
                <a:close/>
              </a:path>
            </a:pathLst>
          </a:custGeom>
          <a:solidFill>
            <a:srgbClr val="2F6FDB"/>
          </a:solidFill>
          <a:ln/>
        </p:spPr>
      </p:sp>
      <p:sp>
        <p:nvSpPr>
          <p:cNvPr id="28" name="Text 26"/>
          <p:cNvSpPr/>
          <p:nvPr/>
        </p:nvSpPr>
        <p:spPr>
          <a:xfrm>
            <a:off x="4607560" y="1463039"/>
            <a:ext cx="6791655"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2F6FDB"/>
                </a:solidFill>
                <a:latin typeface="Helvetica" pitchFamily="34" charset="0"/>
                <a:ea typeface="Helvetica" pitchFamily="34" charset="-122"/>
                <a:cs typeface="Helvetica" pitchFamily="34" charset="-120"/>
              </a:rPr>
              <a:t>Explicit outlier</a:t>
            </a:r>
            <a:endParaRPr lang="en-US" sz="1700" dirty="0"/>
          </a:p>
        </p:txBody>
      </p:sp>
      <p:sp>
        <p:nvSpPr>
          <p:cNvPr id="29" name="Text 27"/>
          <p:cNvSpPr/>
          <p:nvPr/>
        </p:nvSpPr>
        <p:spPr>
          <a:xfrm>
            <a:off x="4607560" y="1785621"/>
            <a:ext cx="6791655"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4213D"/>
                </a:solidFill>
                <a:latin typeface="Helvetica" pitchFamily="34" charset="0"/>
                <a:ea typeface="Helvetica" pitchFamily="34" charset="-122"/>
                <a:cs typeface="Helvetica" pitchFamily="34" charset="-120"/>
              </a:rPr>
              <a:t>Every anomalous point clearly differs from its neighbors. Point-level learning catches these well.</a:t>
            </a:r>
            <a:endParaRPr lang="en-US" sz="1400" dirty="0"/>
          </a:p>
        </p:txBody>
      </p:sp>
      <p:sp>
        <p:nvSpPr>
          <p:cNvPr id="30" name="Shape 28"/>
          <p:cNvSpPr/>
          <p:nvPr/>
        </p:nvSpPr>
        <p:spPr>
          <a:xfrm>
            <a:off x="4368800" y="2595882"/>
            <a:ext cx="7010400" cy="1158240"/>
          </a:xfrm>
          <a:prstGeom prst="roundRect">
            <a:avLst>
              <a:gd name="adj" fmla="val 6579"/>
            </a:avLst>
          </a:prstGeom>
          <a:solidFill>
            <a:srgbClr val="FFFFFF"/>
          </a:solidFill>
          <a:ln/>
        </p:spPr>
      </p:sp>
      <p:sp>
        <p:nvSpPr>
          <p:cNvPr id="31" name="Shape 29"/>
          <p:cNvSpPr/>
          <p:nvPr/>
        </p:nvSpPr>
        <p:spPr>
          <a:xfrm>
            <a:off x="4368800" y="2595882"/>
            <a:ext cx="7010400" cy="1158240"/>
          </a:xfrm>
          <a:custGeom>
            <a:avLst/>
            <a:gdLst/>
            <a:ahLst/>
            <a:cxnLst/>
            <a:rect l="l" t="t" r="r" b="b"/>
            <a:pathLst>
              <a:path w="7010400" h="1158240">
                <a:moveTo>
                  <a:pt x="76200" y="1158240"/>
                </a:moveTo>
                <a:lnTo>
                  <a:pt x="76200" y="1158240"/>
                </a:lnTo>
                <a:arcTo hR="76200" wR="76200" stAng="5400000" swAng="5400000"/>
                <a:lnTo>
                  <a:pt x="0" y="76200"/>
                </a:lnTo>
                <a:arcTo hR="76200" wR="76200" stAng="10800000" swAng="5400000"/>
                <a:lnTo>
                  <a:pt x="76200" y="0"/>
                </a:lnTo>
                <a:arcTo hR="76200" wR="12700" stAng="16200000" swAng="-5400000"/>
                <a:lnTo>
                  <a:pt x="63500" y="1082040"/>
                </a:lnTo>
                <a:arcTo hR="76200" wR="12700" stAng="10800000" swAng="-5400000"/>
                <a:close/>
              </a:path>
            </a:pathLst>
          </a:custGeom>
          <a:solidFill>
            <a:srgbClr val="E8743B"/>
          </a:solidFill>
          <a:ln/>
        </p:spPr>
      </p:sp>
      <p:sp>
        <p:nvSpPr>
          <p:cNvPr id="32" name="Text 30"/>
          <p:cNvSpPr/>
          <p:nvPr/>
        </p:nvSpPr>
        <p:spPr>
          <a:xfrm>
            <a:off x="4607560" y="2773682"/>
            <a:ext cx="6791655"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E8743B"/>
                </a:solidFill>
                <a:latin typeface="Helvetica" pitchFamily="34" charset="0"/>
                <a:ea typeface="Helvetica" pitchFamily="34" charset="-122"/>
                <a:cs typeface="Helvetica" pitchFamily="34" charset="-120"/>
              </a:rPr>
              <a:t>Implicit outlier</a:t>
            </a:r>
            <a:endParaRPr lang="en-US" sz="1700" dirty="0"/>
          </a:p>
        </p:txBody>
      </p:sp>
      <p:sp>
        <p:nvSpPr>
          <p:cNvPr id="33" name="Text 31"/>
          <p:cNvSpPr/>
          <p:nvPr/>
        </p:nvSpPr>
        <p:spPr>
          <a:xfrm>
            <a:off x="4607560" y="3096261"/>
            <a:ext cx="6791655"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4213D"/>
                </a:solidFill>
                <a:latin typeface="Helvetica" pitchFamily="34" charset="0"/>
                <a:ea typeface="Helvetica" pitchFamily="34" charset="-122"/>
                <a:cs typeface="Helvetica" pitchFamily="34" charset="-120"/>
              </a:rPr>
              <a:t>Some anomalous points look normal alone. Looking at a whole sub-sequence around the point exposes them. Sequence-level learning catches these.</a:t>
            </a:r>
            <a:endParaRPr lang="en-US" sz="1400" dirty="0"/>
          </a:p>
        </p:txBody>
      </p:sp>
      <p:sp>
        <p:nvSpPr>
          <p:cNvPr id="34" name="Shape 32"/>
          <p:cNvSpPr/>
          <p:nvPr/>
        </p:nvSpPr>
        <p:spPr>
          <a:xfrm>
            <a:off x="4368800" y="3906521"/>
            <a:ext cx="7010400" cy="1158240"/>
          </a:xfrm>
          <a:prstGeom prst="roundRect">
            <a:avLst>
              <a:gd name="adj" fmla="val 6579"/>
            </a:avLst>
          </a:prstGeom>
          <a:solidFill>
            <a:srgbClr val="FFFFFF"/>
          </a:solidFill>
          <a:ln/>
        </p:spPr>
      </p:sp>
      <p:sp>
        <p:nvSpPr>
          <p:cNvPr id="35" name="Shape 33"/>
          <p:cNvSpPr/>
          <p:nvPr/>
        </p:nvSpPr>
        <p:spPr>
          <a:xfrm>
            <a:off x="4368800" y="3906521"/>
            <a:ext cx="7010400" cy="1158240"/>
          </a:xfrm>
          <a:custGeom>
            <a:avLst/>
            <a:gdLst/>
            <a:ahLst/>
            <a:cxnLst/>
            <a:rect l="l" t="t" r="r" b="b"/>
            <a:pathLst>
              <a:path w="7010400" h="1158240">
                <a:moveTo>
                  <a:pt x="76200" y="1158240"/>
                </a:moveTo>
                <a:lnTo>
                  <a:pt x="76200" y="1158240"/>
                </a:lnTo>
                <a:arcTo hR="76200" wR="76200" stAng="5400000" swAng="5400000"/>
                <a:lnTo>
                  <a:pt x="0" y="76200"/>
                </a:lnTo>
                <a:arcTo hR="76200" wR="76200" stAng="10800000" swAng="5400000"/>
                <a:lnTo>
                  <a:pt x="76200" y="0"/>
                </a:lnTo>
                <a:arcTo hR="76200" wR="12700" stAng="16200000" swAng="-5400000"/>
                <a:lnTo>
                  <a:pt x="63500" y="1082040"/>
                </a:lnTo>
                <a:arcTo hR="76200" wR="12700" stAng="10800000" swAng="-5400000"/>
                <a:close/>
              </a:path>
            </a:pathLst>
          </a:custGeom>
          <a:solidFill>
            <a:srgbClr val="0F9D8A"/>
          </a:solidFill>
          <a:ln/>
        </p:spPr>
      </p:sp>
      <p:sp>
        <p:nvSpPr>
          <p:cNvPr id="36" name="Text 34"/>
          <p:cNvSpPr/>
          <p:nvPr/>
        </p:nvSpPr>
        <p:spPr>
          <a:xfrm>
            <a:off x="4607560" y="4084321"/>
            <a:ext cx="6791655"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F9D8A"/>
                </a:solidFill>
                <a:latin typeface="Helvetica" pitchFamily="34" charset="0"/>
                <a:ea typeface="Helvetica" pitchFamily="34" charset="-122"/>
                <a:cs typeface="Helvetica" pitchFamily="34" charset="-120"/>
              </a:rPr>
              <a:t>Together</a:t>
            </a:r>
            <a:endParaRPr lang="en-US" sz="1700" dirty="0"/>
          </a:p>
        </p:txBody>
      </p:sp>
      <p:sp>
        <p:nvSpPr>
          <p:cNvPr id="37" name="Text 35"/>
          <p:cNvSpPr/>
          <p:nvPr/>
        </p:nvSpPr>
        <p:spPr>
          <a:xfrm>
            <a:off x="4607560" y="4406900"/>
            <a:ext cx="6791655"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4213D"/>
                </a:solidFill>
                <a:latin typeface="Helvetica" pitchFamily="34" charset="0"/>
                <a:ea typeface="Helvetica" pitchFamily="34" charset="-122"/>
                <a:cs typeface="Helvetica" pitchFamily="34" charset="-120"/>
              </a:rPr>
              <a:t>Joint learning beat either branch alone on every ablation dataset and metric reported.</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F"/>
        </a:solidFill>
      </p:bgPr>
    </p:bg>
    <p:spTree>
      <p:nvGrpSpPr>
        <p:cNvPr id="1" name=""/>
        <p:cNvGrpSpPr/>
        <p:nvPr/>
      </p:nvGrpSpPr>
      <p:grpSpPr>
        <a:xfrm>
          <a:off x="0" y="0"/>
          <a:ext cx="0" cy="0"/>
          <a:chOff x="0" y="0"/>
          <a:chExt cx="0" cy="0"/>
        </a:xfrm>
      </p:grpSpPr>
      <p:sp>
        <p:nvSpPr>
          <p:cNvPr id="2" name="Text 0"/>
          <p:cNvSpPr/>
          <p:nvPr>
            <p:ph type="title"/>
          </p:nvPr>
        </p:nvSpPr>
        <p:spPr>
          <a:xfrm>
            <a:off x="812800" y="6096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Helvetica" pitchFamily="34" charset="0"/>
                <a:ea typeface="Helvetica" pitchFamily="34" charset="-122"/>
                <a:cs typeface="Helvetica" pitchFamily="34" charset="-120"/>
              </a:rPr>
              <a:t>Results: smaller, faster, comparably accurate</a:t>
            </a:r>
            <a:endParaRPr lang="en-US" sz="3200" dirty="0"/>
          </a:p>
        </p:txBody>
      </p:sp>
      <p:sp>
        <p:nvSpPr>
          <p:cNvPr id="3" name="Shape 1"/>
          <p:cNvSpPr/>
          <p:nvPr/>
        </p:nvSpPr>
        <p:spPr>
          <a:xfrm>
            <a:off x="812800" y="1285239"/>
            <a:ext cx="10566400" cy="2189480"/>
          </a:xfrm>
          <a:prstGeom prst="roundRect">
            <a:avLst>
              <a:gd name="adj" fmla="val 4640"/>
            </a:avLst>
          </a:prstGeom>
          <a:solidFill>
            <a:srgbClr val="FFFFFF"/>
          </a:solidFill>
          <a:ln/>
        </p:spPr>
      </p:sp>
      <p:sp>
        <p:nvSpPr>
          <p:cNvPr id="4" name="Text 2"/>
          <p:cNvSpPr/>
          <p:nvPr/>
        </p:nvSpPr>
        <p:spPr>
          <a:xfrm>
            <a:off x="1016000" y="1488439"/>
            <a:ext cx="10464800"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Helvetica" pitchFamily="34" charset="0"/>
                <a:ea typeface="Helvetica" pitchFamily="34" charset="-122"/>
                <a:cs typeface="Helvetica" pitchFamily="34" charset="-120"/>
              </a:rPr>
              <a:t>Training time for one epoch on a PC (seconds)</a:t>
            </a:r>
            <a:endParaRPr lang="en-US" sz="1700" dirty="0"/>
          </a:p>
        </p:txBody>
      </p:sp>
      <p:sp>
        <p:nvSpPr>
          <p:cNvPr id="5" name="Text 3"/>
          <p:cNvSpPr/>
          <p:nvPr/>
        </p:nvSpPr>
        <p:spPr>
          <a:xfrm>
            <a:off x="1016000" y="1931671"/>
            <a:ext cx="12573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Helvetica" pitchFamily="34" charset="0"/>
                <a:ea typeface="Helvetica" pitchFamily="34" charset="-122"/>
                <a:cs typeface="Helvetica" pitchFamily="34" charset="-120"/>
              </a:rPr>
              <a:t>LFTSAD</a:t>
            </a:r>
            <a:endParaRPr lang="en-US" sz="1500" dirty="0"/>
          </a:p>
        </p:txBody>
      </p:sp>
      <p:sp>
        <p:nvSpPr>
          <p:cNvPr id="6" name="Shape 4"/>
          <p:cNvSpPr/>
          <p:nvPr/>
        </p:nvSpPr>
        <p:spPr>
          <a:xfrm>
            <a:off x="2349500" y="1874521"/>
            <a:ext cx="698500" cy="381000"/>
          </a:xfrm>
          <a:prstGeom prst="roundRect">
            <a:avLst>
              <a:gd name="adj" fmla="val 16667"/>
            </a:avLst>
          </a:prstGeom>
          <a:solidFill>
            <a:srgbClr val="0F9D8A"/>
          </a:solidFill>
          <a:ln/>
        </p:spPr>
      </p:sp>
      <p:sp>
        <p:nvSpPr>
          <p:cNvPr id="7" name="Text 5"/>
          <p:cNvSpPr/>
          <p:nvPr/>
        </p:nvSpPr>
        <p:spPr>
          <a:xfrm>
            <a:off x="3175000" y="1931671"/>
            <a:ext cx="635603"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Helvetica" pitchFamily="34" charset="0"/>
                <a:ea typeface="Helvetica" pitchFamily="34" charset="-122"/>
                <a:cs typeface="Helvetica" pitchFamily="34" charset="-120"/>
              </a:rPr>
              <a:t>26.5 s</a:t>
            </a:r>
            <a:endParaRPr lang="en-US" sz="1500" dirty="0"/>
          </a:p>
        </p:txBody>
      </p:sp>
      <p:sp>
        <p:nvSpPr>
          <p:cNvPr id="8" name="Text 6"/>
          <p:cNvSpPr/>
          <p:nvPr/>
        </p:nvSpPr>
        <p:spPr>
          <a:xfrm>
            <a:off x="1016000" y="2439671"/>
            <a:ext cx="12573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Helvetica" pitchFamily="34" charset="0"/>
                <a:ea typeface="Helvetica" pitchFamily="34" charset="-122"/>
                <a:cs typeface="Helvetica" pitchFamily="34" charset="-120"/>
              </a:rPr>
              <a:t>DTAAD</a:t>
            </a:r>
            <a:endParaRPr lang="en-US" sz="1500" dirty="0"/>
          </a:p>
        </p:txBody>
      </p:sp>
      <p:sp>
        <p:nvSpPr>
          <p:cNvPr id="9" name="Shape 7"/>
          <p:cNvSpPr/>
          <p:nvPr/>
        </p:nvSpPr>
        <p:spPr>
          <a:xfrm>
            <a:off x="2349500" y="2382521"/>
            <a:ext cx="3810000" cy="381000"/>
          </a:xfrm>
          <a:prstGeom prst="roundRect">
            <a:avLst>
              <a:gd name="adj" fmla="val 16667"/>
            </a:avLst>
          </a:prstGeom>
          <a:solidFill>
            <a:srgbClr val="9AA6C2"/>
          </a:solidFill>
          <a:ln/>
        </p:spPr>
      </p:sp>
      <p:sp>
        <p:nvSpPr>
          <p:cNvPr id="10" name="Text 8"/>
          <p:cNvSpPr/>
          <p:nvPr/>
        </p:nvSpPr>
        <p:spPr>
          <a:xfrm>
            <a:off x="6286500" y="2439671"/>
            <a:ext cx="57207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Helvetica" pitchFamily="34" charset="0"/>
                <a:ea typeface="Helvetica" pitchFamily="34" charset="-122"/>
                <a:cs typeface="Helvetica" pitchFamily="34" charset="-120"/>
              </a:rPr>
              <a:t>148 s</a:t>
            </a:r>
            <a:endParaRPr lang="en-US" sz="1500" dirty="0"/>
          </a:p>
        </p:txBody>
      </p:sp>
      <p:sp>
        <p:nvSpPr>
          <p:cNvPr id="11" name="Text 9"/>
          <p:cNvSpPr/>
          <p:nvPr/>
        </p:nvSpPr>
        <p:spPr>
          <a:xfrm>
            <a:off x="1016000" y="2947671"/>
            <a:ext cx="12573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Helvetica" pitchFamily="34" charset="0"/>
                <a:ea typeface="Helvetica" pitchFamily="34" charset="-122"/>
                <a:cs typeface="Helvetica" pitchFamily="34" charset="-120"/>
              </a:rPr>
              <a:t>DCdetector</a:t>
            </a:r>
            <a:endParaRPr lang="en-US" sz="1500" dirty="0"/>
          </a:p>
        </p:txBody>
      </p:sp>
      <p:sp>
        <p:nvSpPr>
          <p:cNvPr id="12" name="Shape 10"/>
          <p:cNvSpPr/>
          <p:nvPr/>
        </p:nvSpPr>
        <p:spPr>
          <a:xfrm>
            <a:off x="2349500" y="2890521"/>
            <a:ext cx="6350000" cy="381000"/>
          </a:xfrm>
          <a:prstGeom prst="roundRect">
            <a:avLst>
              <a:gd name="adj" fmla="val 16667"/>
            </a:avLst>
          </a:prstGeom>
          <a:solidFill>
            <a:srgbClr val="9AA6C2"/>
          </a:solidFill>
          <a:ln/>
        </p:spPr>
      </p:sp>
      <p:sp>
        <p:nvSpPr>
          <p:cNvPr id="13" name="Text 11"/>
          <p:cNvSpPr/>
          <p:nvPr/>
        </p:nvSpPr>
        <p:spPr>
          <a:xfrm>
            <a:off x="8826500" y="2947671"/>
            <a:ext cx="76276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Helvetica" pitchFamily="34" charset="0"/>
                <a:ea typeface="Helvetica" pitchFamily="34" charset="-122"/>
                <a:cs typeface="Helvetica" pitchFamily="34" charset="-120"/>
              </a:rPr>
              <a:t>271.8 s</a:t>
            </a:r>
            <a:endParaRPr lang="en-US" sz="1500" dirty="0"/>
          </a:p>
        </p:txBody>
      </p:sp>
      <p:sp>
        <p:nvSpPr>
          <p:cNvPr id="14" name="Shape 12"/>
          <p:cNvSpPr/>
          <p:nvPr/>
        </p:nvSpPr>
        <p:spPr>
          <a:xfrm>
            <a:off x="812800" y="3703321"/>
            <a:ext cx="2527300" cy="1329690"/>
          </a:xfrm>
          <a:prstGeom prst="roundRect">
            <a:avLst>
              <a:gd name="adj" fmla="val 7641"/>
            </a:avLst>
          </a:prstGeom>
          <a:solidFill>
            <a:srgbClr val="FFFFFF"/>
          </a:solidFill>
          <a:ln/>
        </p:spPr>
      </p:sp>
      <p:sp>
        <p:nvSpPr>
          <p:cNvPr id="15" name="Shape 13"/>
          <p:cNvSpPr/>
          <p:nvPr/>
        </p:nvSpPr>
        <p:spPr>
          <a:xfrm>
            <a:off x="812800" y="3703321"/>
            <a:ext cx="2527300" cy="1329690"/>
          </a:xfrm>
          <a:custGeom>
            <a:avLst/>
            <a:gdLst/>
            <a:ahLst/>
            <a:cxnLst/>
            <a:rect l="l" t="t" r="r" b="b"/>
            <a:pathLst>
              <a:path w="2527300" h="1329690">
                <a:moveTo>
                  <a:pt x="0" y="101600"/>
                </a:moveTo>
                <a:lnTo>
                  <a:pt x="0" y="101600"/>
                </a:lnTo>
                <a:arcTo hR="101600" wR="101600" stAng="10800000" swAng="5400000"/>
                <a:lnTo>
                  <a:pt x="2425700" y="0"/>
                </a:lnTo>
                <a:arcTo hR="101600" wR="101600" stAng="16200000" swAng="5400000"/>
                <a:lnTo>
                  <a:pt x="2527300" y="101600"/>
                </a:lnTo>
                <a:arcTo hR="50800" wR="101600" stAng="0" swAng="-5400000"/>
                <a:lnTo>
                  <a:pt x="101600" y="50800"/>
                </a:lnTo>
                <a:arcTo hR="50800" wR="101600" stAng="16200000" swAng="-5400000"/>
                <a:close/>
              </a:path>
            </a:pathLst>
          </a:custGeom>
          <a:solidFill>
            <a:srgbClr val="0F9D8A"/>
          </a:solidFill>
          <a:ln/>
        </p:spPr>
      </p:sp>
      <p:sp>
        <p:nvSpPr>
          <p:cNvPr id="16" name="Text 14"/>
          <p:cNvSpPr/>
          <p:nvPr/>
        </p:nvSpPr>
        <p:spPr>
          <a:xfrm>
            <a:off x="990600" y="3931921"/>
            <a:ext cx="2236851" cy="452120"/>
          </a:xfrm>
          <a:prstGeom prst="rect">
            <a:avLst/>
          </a:prstGeom>
          <a:noFill/>
          <a:ln/>
        </p:spPr>
        <p:txBody>
          <a:bodyPr wrap="square" lIns="0" tIns="0" rIns="0" bIns="0" rtlCol="0" anchor="t">
            <a:normAutofit/>
          </a:bodyPr>
          <a:lstStyle/>
          <a:p>
            <a:pPr algn="l" indent="0" marL="0">
              <a:lnSpc>
                <a:spcPts val="3360"/>
              </a:lnSpc>
              <a:buNone/>
            </a:pPr>
            <a:r>
              <a:rPr lang="en-US" sz="3200" b="1" dirty="0">
                <a:solidFill>
                  <a:srgbClr val="0F9D8A"/>
                </a:solidFill>
                <a:latin typeface="Helvetica" pitchFamily="34" charset="0"/>
                <a:ea typeface="Helvetica" pitchFamily="34" charset="-122"/>
                <a:cs typeface="Helvetica" pitchFamily="34" charset="-120"/>
              </a:rPr>
              <a:t>12.6K</a:t>
            </a:r>
            <a:endParaRPr lang="en-US" sz="3200" dirty="0"/>
          </a:p>
        </p:txBody>
      </p:sp>
      <p:sp>
        <p:nvSpPr>
          <p:cNvPr id="17" name="Text 15"/>
          <p:cNvSpPr/>
          <p:nvPr/>
        </p:nvSpPr>
        <p:spPr>
          <a:xfrm>
            <a:off x="990600" y="4409442"/>
            <a:ext cx="2236851"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4213D"/>
                </a:solidFill>
                <a:latin typeface="Helvetica" pitchFamily="34" charset="0"/>
                <a:ea typeface="Helvetica" pitchFamily="34" charset="-122"/>
                <a:cs typeface="Helvetica" pitchFamily="34" charset="-120"/>
              </a:rPr>
              <a:t>parameters vs 4,741K for Anomaly Transformer</a:t>
            </a:r>
            <a:endParaRPr lang="en-US" sz="1300" dirty="0"/>
          </a:p>
        </p:txBody>
      </p:sp>
      <p:sp>
        <p:nvSpPr>
          <p:cNvPr id="18" name="Shape 16"/>
          <p:cNvSpPr/>
          <p:nvPr/>
        </p:nvSpPr>
        <p:spPr>
          <a:xfrm>
            <a:off x="3492500" y="3703321"/>
            <a:ext cx="2527300" cy="1329690"/>
          </a:xfrm>
          <a:prstGeom prst="roundRect">
            <a:avLst>
              <a:gd name="adj" fmla="val 7641"/>
            </a:avLst>
          </a:prstGeom>
          <a:solidFill>
            <a:srgbClr val="FFFFFF"/>
          </a:solidFill>
          <a:ln/>
        </p:spPr>
      </p:sp>
      <p:sp>
        <p:nvSpPr>
          <p:cNvPr id="19" name="Shape 17"/>
          <p:cNvSpPr/>
          <p:nvPr/>
        </p:nvSpPr>
        <p:spPr>
          <a:xfrm>
            <a:off x="3492500" y="3703321"/>
            <a:ext cx="2527300" cy="1329690"/>
          </a:xfrm>
          <a:custGeom>
            <a:avLst/>
            <a:gdLst/>
            <a:ahLst/>
            <a:cxnLst/>
            <a:rect l="l" t="t" r="r" b="b"/>
            <a:pathLst>
              <a:path w="2527300" h="1329690">
                <a:moveTo>
                  <a:pt x="0" y="101600"/>
                </a:moveTo>
                <a:lnTo>
                  <a:pt x="0" y="101600"/>
                </a:lnTo>
                <a:arcTo hR="101600" wR="101600" stAng="10800000" swAng="5400000"/>
                <a:lnTo>
                  <a:pt x="2425700" y="0"/>
                </a:lnTo>
                <a:arcTo hR="101600" wR="101600" stAng="16200000" swAng="5400000"/>
                <a:lnTo>
                  <a:pt x="2527300" y="101600"/>
                </a:lnTo>
                <a:arcTo hR="50800" wR="101600" stAng="0" swAng="-5400000"/>
                <a:lnTo>
                  <a:pt x="101600" y="50800"/>
                </a:lnTo>
                <a:arcTo hR="50800" wR="101600" stAng="16200000" swAng="-5400000"/>
                <a:close/>
              </a:path>
            </a:pathLst>
          </a:custGeom>
          <a:solidFill>
            <a:srgbClr val="2F6FDB"/>
          </a:solidFill>
          <a:ln/>
        </p:spPr>
      </p:sp>
      <p:sp>
        <p:nvSpPr>
          <p:cNvPr id="20" name="Text 18"/>
          <p:cNvSpPr/>
          <p:nvPr/>
        </p:nvSpPr>
        <p:spPr>
          <a:xfrm>
            <a:off x="3670300" y="3931921"/>
            <a:ext cx="2236851" cy="452120"/>
          </a:xfrm>
          <a:prstGeom prst="rect">
            <a:avLst/>
          </a:prstGeom>
          <a:noFill/>
          <a:ln/>
        </p:spPr>
        <p:txBody>
          <a:bodyPr wrap="square" lIns="0" tIns="0" rIns="0" bIns="0" rtlCol="0" anchor="t">
            <a:normAutofit/>
          </a:bodyPr>
          <a:lstStyle/>
          <a:p>
            <a:pPr algn="l" indent="0" marL="0">
              <a:lnSpc>
                <a:spcPts val="3360"/>
              </a:lnSpc>
              <a:buNone/>
            </a:pPr>
            <a:r>
              <a:rPr lang="en-US" sz="3200" b="1" dirty="0">
                <a:solidFill>
                  <a:srgbClr val="2F6FDB"/>
                </a:solidFill>
                <a:latin typeface="Helvetica" pitchFamily="34" charset="0"/>
                <a:ea typeface="Helvetica" pitchFamily="34" charset="-122"/>
                <a:cs typeface="Helvetica" pitchFamily="34" charset="-120"/>
              </a:rPr>
              <a:t>185 MB</a:t>
            </a:r>
            <a:endParaRPr lang="en-US" sz="3200" dirty="0"/>
          </a:p>
        </p:txBody>
      </p:sp>
      <p:sp>
        <p:nvSpPr>
          <p:cNvPr id="21" name="Text 19"/>
          <p:cNvSpPr/>
          <p:nvPr/>
        </p:nvSpPr>
        <p:spPr>
          <a:xfrm>
            <a:off x="3670300" y="4409442"/>
            <a:ext cx="2236851"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4213D"/>
                </a:solidFill>
                <a:latin typeface="Helvetica" pitchFamily="34" charset="0"/>
                <a:ea typeface="Helvetica" pitchFamily="34" charset="-122"/>
                <a:cs typeface="Helvetica" pitchFamily="34" charset="-120"/>
              </a:rPr>
              <a:t>RAM on Raspberry Pi 4b vs 402 MB for DCdetector</a:t>
            </a:r>
            <a:endParaRPr lang="en-US" sz="1300" dirty="0"/>
          </a:p>
        </p:txBody>
      </p:sp>
      <p:sp>
        <p:nvSpPr>
          <p:cNvPr id="22" name="Shape 20"/>
          <p:cNvSpPr/>
          <p:nvPr/>
        </p:nvSpPr>
        <p:spPr>
          <a:xfrm>
            <a:off x="6172200" y="3703321"/>
            <a:ext cx="2527300" cy="1329690"/>
          </a:xfrm>
          <a:prstGeom prst="roundRect">
            <a:avLst>
              <a:gd name="adj" fmla="val 7641"/>
            </a:avLst>
          </a:prstGeom>
          <a:solidFill>
            <a:srgbClr val="FFFFFF"/>
          </a:solidFill>
          <a:ln/>
        </p:spPr>
      </p:sp>
      <p:sp>
        <p:nvSpPr>
          <p:cNvPr id="23" name="Shape 21"/>
          <p:cNvSpPr/>
          <p:nvPr/>
        </p:nvSpPr>
        <p:spPr>
          <a:xfrm>
            <a:off x="6172200" y="3703321"/>
            <a:ext cx="2527300" cy="1329690"/>
          </a:xfrm>
          <a:custGeom>
            <a:avLst/>
            <a:gdLst/>
            <a:ahLst/>
            <a:cxnLst/>
            <a:rect l="l" t="t" r="r" b="b"/>
            <a:pathLst>
              <a:path w="2527300" h="1329690">
                <a:moveTo>
                  <a:pt x="0" y="101600"/>
                </a:moveTo>
                <a:lnTo>
                  <a:pt x="0" y="101600"/>
                </a:lnTo>
                <a:arcTo hR="101600" wR="101600" stAng="10800000" swAng="5400000"/>
                <a:lnTo>
                  <a:pt x="2425700" y="0"/>
                </a:lnTo>
                <a:arcTo hR="101600" wR="101600" stAng="16200000" swAng="5400000"/>
                <a:lnTo>
                  <a:pt x="2527300" y="101600"/>
                </a:lnTo>
                <a:arcTo hR="50800" wR="101600" stAng="0" swAng="-5400000"/>
                <a:lnTo>
                  <a:pt x="101600" y="50800"/>
                </a:lnTo>
                <a:arcTo hR="50800" wR="101600" stAng="16200000" swAng="-5400000"/>
                <a:close/>
              </a:path>
            </a:pathLst>
          </a:custGeom>
          <a:solidFill>
            <a:srgbClr val="E8743B"/>
          </a:solidFill>
          <a:ln/>
        </p:spPr>
      </p:sp>
      <p:sp>
        <p:nvSpPr>
          <p:cNvPr id="24" name="Text 22"/>
          <p:cNvSpPr/>
          <p:nvPr/>
        </p:nvSpPr>
        <p:spPr>
          <a:xfrm>
            <a:off x="6350000" y="3931921"/>
            <a:ext cx="2236851" cy="452120"/>
          </a:xfrm>
          <a:prstGeom prst="rect">
            <a:avLst/>
          </a:prstGeom>
          <a:noFill/>
          <a:ln/>
        </p:spPr>
        <p:txBody>
          <a:bodyPr wrap="square" lIns="0" tIns="0" rIns="0" bIns="0" rtlCol="0" anchor="t">
            <a:normAutofit/>
          </a:bodyPr>
          <a:lstStyle/>
          <a:p>
            <a:pPr algn="l" indent="0" marL="0">
              <a:lnSpc>
                <a:spcPts val="3360"/>
              </a:lnSpc>
              <a:buNone/>
            </a:pPr>
            <a:r>
              <a:rPr lang="en-US" sz="3200" b="1" dirty="0">
                <a:solidFill>
                  <a:srgbClr val="E8743B"/>
                </a:solidFill>
                <a:latin typeface="Helvetica" pitchFamily="34" charset="0"/>
                <a:ea typeface="Helvetica" pitchFamily="34" charset="-122"/>
                <a:cs typeface="Helvetica" pitchFamily="34" charset="-120"/>
              </a:rPr>
              <a:t>3–10×</a:t>
            </a:r>
            <a:endParaRPr lang="en-US" sz="3200" dirty="0"/>
          </a:p>
        </p:txBody>
      </p:sp>
      <p:sp>
        <p:nvSpPr>
          <p:cNvPr id="25" name="Text 23"/>
          <p:cNvSpPr/>
          <p:nvPr/>
        </p:nvSpPr>
        <p:spPr>
          <a:xfrm>
            <a:off x="6350000" y="4409442"/>
            <a:ext cx="2236851"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4213D"/>
                </a:solidFill>
                <a:latin typeface="Helvetica" pitchFamily="34" charset="0"/>
                <a:ea typeface="Helvetica" pitchFamily="34" charset="-122"/>
                <a:cs typeface="Helvetica" pitchFamily="34" charset="-120"/>
              </a:rPr>
              <a:t>faster than deep SOTA models (reported)</a:t>
            </a:r>
            <a:endParaRPr lang="en-US" sz="1300" dirty="0"/>
          </a:p>
        </p:txBody>
      </p:sp>
      <p:sp>
        <p:nvSpPr>
          <p:cNvPr id="26" name="Shape 24"/>
          <p:cNvSpPr/>
          <p:nvPr/>
        </p:nvSpPr>
        <p:spPr>
          <a:xfrm>
            <a:off x="8851900" y="3703321"/>
            <a:ext cx="2527300" cy="1329690"/>
          </a:xfrm>
          <a:prstGeom prst="roundRect">
            <a:avLst>
              <a:gd name="adj" fmla="val 7641"/>
            </a:avLst>
          </a:prstGeom>
          <a:solidFill>
            <a:srgbClr val="FFFFFF"/>
          </a:solidFill>
          <a:ln/>
        </p:spPr>
      </p:sp>
      <p:sp>
        <p:nvSpPr>
          <p:cNvPr id="27" name="Shape 25"/>
          <p:cNvSpPr/>
          <p:nvPr/>
        </p:nvSpPr>
        <p:spPr>
          <a:xfrm>
            <a:off x="8851900" y="3703321"/>
            <a:ext cx="2527300" cy="1329690"/>
          </a:xfrm>
          <a:custGeom>
            <a:avLst/>
            <a:gdLst/>
            <a:ahLst/>
            <a:cxnLst/>
            <a:rect l="l" t="t" r="r" b="b"/>
            <a:pathLst>
              <a:path w="2527300" h="1329690">
                <a:moveTo>
                  <a:pt x="0" y="101600"/>
                </a:moveTo>
                <a:lnTo>
                  <a:pt x="0" y="101600"/>
                </a:lnTo>
                <a:arcTo hR="101600" wR="101600" stAng="10800000" swAng="5400000"/>
                <a:lnTo>
                  <a:pt x="2425700" y="0"/>
                </a:lnTo>
                <a:arcTo hR="101600" wR="101600" stAng="16200000" swAng="5400000"/>
                <a:lnTo>
                  <a:pt x="2527300" y="101600"/>
                </a:lnTo>
                <a:arcTo hR="50800" wR="101600" stAng="0" swAng="-5400000"/>
                <a:lnTo>
                  <a:pt x="101600" y="50800"/>
                </a:lnTo>
                <a:arcTo hR="50800" wR="101600" stAng="16200000" swAng="-5400000"/>
                <a:close/>
              </a:path>
            </a:pathLst>
          </a:custGeom>
          <a:solidFill>
            <a:srgbClr val="D6336C"/>
          </a:solidFill>
          <a:ln/>
        </p:spPr>
      </p:sp>
      <p:sp>
        <p:nvSpPr>
          <p:cNvPr id="28" name="Text 26"/>
          <p:cNvSpPr/>
          <p:nvPr/>
        </p:nvSpPr>
        <p:spPr>
          <a:xfrm>
            <a:off x="9029700" y="3931921"/>
            <a:ext cx="2236851" cy="452120"/>
          </a:xfrm>
          <a:prstGeom prst="rect">
            <a:avLst/>
          </a:prstGeom>
          <a:noFill/>
          <a:ln/>
        </p:spPr>
        <p:txBody>
          <a:bodyPr wrap="square" lIns="0" tIns="0" rIns="0" bIns="0" rtlCol="0" anchor="t">
            <a:normAutofit/>
          </a:bodyPr>
          <a:lstStyle/>
          <a:p>
            <a:pPr algn="l" indent="0" marL="0">
              <a:lnSpc>
                <a:spcPts val="3360"/>
              </a:lnSpc>
              <a:buNone/>
            </a:pPr>
            <a:r>
              <a:rPr lang="en-US" sz="3200" b="1" dirty="0">
                <a:solidFill>
                  <a:srgbClr val="D6336C"/>
                </a:solidFill>
                <a:latin typeface="Helvetica" pitchFamily="34" charset="0"/>
                <a:ea typeface="Helvetica" pitchFamily="34" charset="-122"/>
                <a:cs typeface="Helvetica" pitchFamily="34" charset="-120"/>
              </a:rPr>
              <a:t>Top 2</a:t>
            </a:r>
            <a:endParaRPr lang="en-US" sz="3200" dirty="0"/>
          </a:p>
        </p:txBody>
      </p:sp>
      <p:sp>
        <p:nvSpPr>
          <p:cNvPr id="29" name="Text 27"/>
          <p:cNvSpPr/>
          <p:nvPr/>
        </p:nvSpPr>
        <p:spPr>
          <a:xfrm>
            <a:off x="9029700" y="4409442"/>
            <a:ext cx="2236851"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4213D"/>
                </a:solidFill>
                <a:latin typeface="Helvetica" pitchFamily="34" charset="0"/>
                <a:ea typeface="Helvetica" pitchFamily="34" charset="-122"/>
                <a:cs typeface="Helvetica" pitchFamily="34" charset="-120"/>
              </a:rPr>
              <a:t>on over half of 8 metrics across 14 datasets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F"/>
        </a:solidFill>
      </p:bgPr>
    </p:bg>
    <p:spTree>
      <p:nvGrpSpPr>
        <p:cNvPr id="1" name=""/>
        <p:cNvGrpSpPr/>
        <p:nvPr/>
      </p:nvGrpSpPr>
      <p:grpSpPr>
        <a:xfrm>
          <a:off x="0" y="0"/>
          <a:ext cx="0" cy="0"/>
          <a:chOff x="0" y="0"/>
          <a:chExt cx="0" cy="0"/>
        </a:xfrm>
      </p:grpSpPr>
      <p:sp>
        <p:nvSpPr>
          <p:cNvPr id="2" name="Text 0"/>
          <p:cNvSpPr/>
          <p:nvPr>
            <p:ph type="title"/>
          </p:nvPr>
        </p:nvSpPr>
        <p:spPr>
          <a:xfrm>
            <a:off x="812800" y="6096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Helvetica" pitchFamily="34" charset="0"/>
                <a:ea typeface="Helvetica" pitchFamily="34" charset="-122"/>
                <a:cs typeface="Helvetica" pitchFamily="34" charset="-120"/>
              </a:rPr>
              <a:t>Takeaways and limitations</a:t>
            </a:r>
            <a:endParaRPr lang="en-US" sz="3200" dirty="0"/>
          </a:p>
        </p:txBody>
      </p:sp>
      <p:sp>
        <p:nvSpPr>
          <p:cNvPr id="3" name="Shape 1"/>
          <p:cNvSpPr/>
          <p:nvPr/>
        </p:nvSpPr>
        <p:spPr>
          <a:xfrm>
            <a:off x="812800" y="1285242"/>
            <a:ext cx="3403600" cy="3004820"/>
          </a:xfrm>
          <a:prstGeom prst="roundRect">
            <a:avLst>
              <a:gd name="adj" fmla="val 3381"/>
            </a:avLst>
          </a:prstGeom>
          <a:solidFill>
            <a:srgbClr val="FFFFFF"/>
          </a:solidFill>
          <a:ln/>
        </p:spPr>
      </p:sp>
      <p:sp>
        <p:nvSpPr>
          <p:cNvPr id="4" name="Shape 2"/>
          <p:cNvSpPr/>
          <p:nvPr/>
        </p:nvSpPr>
        <p:spPr>
          <a:xfrm>
            <a:off x="812800" y="1285242"/>
            <a:ext cx="3403600" cy="3004820"/>
          </a:xfrm>
          <a:custGeom>
            <a:avLst/>
            <a:gdLst/>
            <a:ahLst/>
            <a:cxnLst/>
            <a:rect l="l" t="t" r="r" b="b"/>
            <a:pathLst>
              <a:path w="3403600" h="3004820">
                <a:moveTo>
                  <a:pt x="0" y="101600"/>
                </a:moveTo>
                <a:lnTo>
                  <a:pt x="0" y="101600"/>
                </a:lnTo>
                <a:arcTo hR="101600" wR="101600" stAng="10800000" swAng="5400000"/>
                <a:lnTo>
                  <a:pt x="3302000" y="0"/>
                </a:lnTo>
                <a:arcTo hR="101600" wR="101600" stAng="16200000" swAng="5400000"/>
                <a:lnTo>
                  <a:pt x="3403600" y="101600"/>
                </a:lnTo>
                <a:arcTo hR="50800" wR="101600" stAng="0" swAng="-5400000"/>
                <a:lnTo>
                  <a:pt x="101600" y="50800"/>
                </a:lnTo>
                <a:arcTo hR="50800" wR="101600" stAng="16200000" swAng="-5400000"/>
                <a:close/>
              </a:path>
            </a:pathLst>
          </a:custGeom>
          <a:solidFill>
            <a:srgbClr val="0F9D8A"/>
          </a:solidFill>
          <a:ln/>
        </p:spPr>
      </p:sp>
      <p:sp>
        <p:nvSpPr>
          <p:cNvPr id="5" name="Text 3"/>
          <p:cNvSpPr/>
          <p:nvPr/>
        </p:nvSpPr>
        <p:spPr>
          <a:xfrm>
            <a:off x="1041400" y="1564642"/>
            <a:ext cx="303479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F9D8A"/>
                </a:solidFill>
                <a:latin typeface="Helvetica" pitchFamily="34" charset="0"/>
                <a:ea typeface="Helvetica" pitchFamily="34" charset="-122"/>
                <a:cs typeface="Helvetica" pitchFamily="34" charset="-120"/>
              </a:rPr>
              <a:t>Takeaways</a:t>
            </a:r>
            <a:endParaRPr lang="en-US" sz="1800" dirty="0"/>
          </a:p>
        </p:txBody>
      </p:sp>
      <p:sp>
        <p:nvSpPr>
          <p:cNvPr id="6" name="Text 4"/>
          <p:cNvSpPr/>
          <p:nvPr/>
        </p:nvSpPr>
        <p:spPr>
          <a:xfrm>
            <a:off x="1099820" y="1927864"/>
            <a:ext cx="2969514" cy="2159000"/>
          </a:xfrm>
          <a:prstGeom prst="rect">
            <a:avLst/>
          </a:prstGeom>
          <a:noFill/>
          <a:ln/>
        </p:spPr>
        <p:txBody>
          <a:bodyPr wrap="square" lIns="0" tIns="0" rIns="0" bIns="0" rtlCol="0" anchor="t">
            <a:normAutofit/>
          </a:bodyPr>
          <a:lstStyle/>
          <a:p>
            <a:pPr algn="l" marL="170180" indent="-170180">
              <a:lnSpc>
                <a:spcPts val="2100"/>
              </a:lnSpc>
              <a:buSzPct val="100000"/>
              <a:buChar char="•"/>
            </a:pPr>
            <a:r>
              <a:rPr lang="en-US" sz="1500" dirty="0">
                <a:solidFill>
                  <a:srgbClr val="14213D"/>
                </a:solidFill>
                <a:latin typeface="Helvetica" pitchFamily="34" charset="0"/>
                <a:ea typeface="Helvetica" pitchFamily="34" charset="-122"/>
                <a:cs typeface="Helvetica" pitchFamily="34" charset="-120"/>
              </a:rPr>
              <a:t>Compare two reconstructions instead of computing costly associations</a:t>
            </a:r>
            <a:endParaRPr lang="en-US" sz="1500" dirty="0"/>
          </a:p>
          <a:p>
            <a:pPr algn="l" marL="170180" indent="-170180">
              <a:lnSpc>
                <a:spcPts val="2100"/>
              </a:lnSpc>
              <a:buSzPct val="100000"/>
              <a:buChar char="•"/>
            </a:pPr>
            <a:r>
              <a:rPr lang="en-US" sz="1500" dirty="0">
                <a:solidFill>
                  <a:srgbClr val="14213D"/>
                </a:solidFill>
                <a:latin typeface="Helvetica" pitchFamily="34" charset="0"/>
                <a:ea typeface="Helvetica" pitchFamily="34" charset="-122"/>
                <a:cs typeface="Helvetica" pitchFamily="34" charset="-120"/>
              </a:rPr>
              <a:t>Four shallow MLPs are enough for edge deployment</a:t>
            </a:r>
            <a:endParaRPr lang="en-US" sz="1500" dirty="0"/>
          </a:p>
          <a:p>
            <a:pPr algn="l" marL="170180" indent="-170180">
              <a:lnSpc>
                <a:spcPts val="2100"/>
              </a:lnSpc>
              <a:buSzPct val="100000"/>
              <a:buChar char="•"/>
            </a:pPr>
            <a:r>
              <a:rPr lang="en-US" sz="1500" dirty="0">
                <a:solidFill>
                  <a:srgbClr val="14213D"/>
                </a:solidFill>
                <a:latin typeface="Helvetica" pitchFamily="34" charset="0"/>
                <a:ea typeface="Helvetica" pitchFamily="34" charset="-122"/>
                <a:cs typeface="Helvetica" pitchFamily="34" charset="-120"/>
              </a:rPr>
              <a:t>Point plus sequence level covers explicit and implicit anomalies</a:t>
            </a:r>
            <a:endParaRPr lang="en-US" sz="1500" dirty="0"/>
          </a:p>
        </p:txBody>
      </p:sp>
      <p:sp>
        <p:nvSpPr>
          <p:cNvPr id="7" name="Shape 5"/>
          <p:cNvSpPr/>
          <p:nvPr/>
        </p:nvSpPr>
        <p:spPr>
          <a:xfrm>
            <a:off x="4394200" y="1285242"/>
            <a:ext cx="3403600" cy="3004820"/>
          </a:xfrm>
          <a:prstGeom prst="roundRect">
            <a:avLst>
              <a:gd name="adj" fmla="val 3381"/>
            </a:avLst>
          </a:prstGeom>
          <a:solidFill>
            <a:srgbClr val="FFFFFF"/>
          </a:solidFill>
          <a:ln/>
        </p:spPr>
      </p:sp>
      <p:sp>
        <p:nvSpPr>
          <p:cNvPr id="8" name="Shape 6"/>
          <p:cNvSpPr/>
          <p:nvPr/>
        </p:nvSpPr>
        <p:spPr>
          <a:xfrm>
            <a:off x="4394200" y="1285242"/>
            <a:ext cx="3403600" cy="3004820"/>
          </a:xfrm>
          <a:custGeom>
            <a:avLst/>
            <a:gdLst/>
            <a:ahLst/>
            <a:cxnLst/>
            <a:rect l="l" t="t" r="r" b="b"/>
            <a:pathLst>
              <a:path w="3403600" h="3004820">
                <a:moveTo>
                  <a:pt x="0" y="101600"/>
                </a:moveTo>
                <a:lnTo>
                  <a:pt x="0" y="101600"/>
                </a:lnTo>
                <a:arcTo hR="101600" wR="101600" stAng="10800000" swAng="5400000"/>
                <a:lnTo>
                  <a:pt x="3302000" y="0"/>
                </a:lnTo>
                <a:arcTo hR="101600" wR="101600" stAng="16200000" swAng="5400000"/>
                <a:lnTo>
                  <a:pt x="3403600" y="101600"/>
                </a:lnTo>
                <a:arcTo hR="50800" wR="101600" stAng="0" swAng="-5400000"/>
                <a:lnTo>
                  <a:pt x="101600" y="50800"/>
                </a:lnTo>
                <a:arcTo hR="50800" wR="101600" stAng="16200000" swAng="-5400000"/>
                <a:close/>
              </a:path>
            </a:pathLst>
          </a:custGeom>
          <a:solidFill>
            <a:srgbClr val="E8743B"/>
          </a:solidFill>
          <a:ln/>
        </p:spPr>
      </p:sp>
      <p:sp>
        <p:nvSpPr>
          <p:cNvPr id="9" name="Text 7"/>
          <p:cNvSpPr/>
          <p:nvPr/>
        </p:nvSpPr>
        <p:spPr>
          <a:xfrm>
            <a:off x="4622800" y="1564642"/>
            <a:ext cx="3034792" cy="5740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8743B"/>
                </a:solidFill>
                <a:latin typeface="Helvetica" pitchFamily="34" charset="0"/>
                <a:ea typeface="Helvetica" pitchFamily="34" charset="-122"/>
                <a:cs typeface="Helvetica" pitchFamily="34" charset="-120"/>
              </a:rPr>
              <a:t>Limitations (from the paper)</a:t>
            </a:r>
            <a:endParaRPr lang="en-US" sz="1800" dirty="0"/>
          </a:p>
        </p:txBody>
      </p:sp>
      <p:sp>
        <p:nvSpPr>
          <p:cNvPr id="10" name="Text 8"/>
          <p:cNvSpPr/>
          <p:nvPr/>
        </p:nvSpPr>
        <p:spPr>
          <a:xfrm>
            <a:off x="4681220" y="2202179"/>
            <a:ext cx="2969514" cy="1358900"/>
          </a:xfrm>
          <a:prstGeom prst="rect">
            <a:avLst/>
          </a:prstGeom>
          <a:noFill/>
          <a:ln/>
        </p:spPr>
        <p:txBody>
          <a:bodyPr wrap="square" lIns="0" tIns="0" rIns="0" bIns="0" rtlCol="0" anchor="t">
            <a:normAutofit/>
          </a:bodyPr>
          <a:lstStyle/>
          <a:p>
            <a:pPr algn="l" marL="170180" indent="-170180">
              <a:lnSpc>
                <a:spcPts val="2100"/>
              </a:lnSpc>
              <a:buSzPct val="100000"/>
              <a:buChar char="•"/>
            </a:pPr>
            <a:r>
              <a:rPr lang="en-US" sz="1500" dirty="0">
                <a:solidFill>
                  <a:srgbClr val="14213D"/>
                </a:solidFill>
                <a:latin typeface="Helvetica" pitchFamily="34" charset="0"/>
                <a:ea typeface="Helvetica" pitchFamily="34" charset="-122"/>
                <a:cs typeface="Helvetica" pitchFamily="34" charset="-120"/>
              </a:rPr>
              <a:t>Sensitive to α on some datasets</a:t>
            </a:r>
            <a:endParaRPr lang="en-US" sz="1500" dirty="0"/>
          </a:p>
          <a:p>
            <a:pPr algn="l" marL="170180" indent="-170180">
              <a:lnSpc>
                <a:spcPts val="2100"/>
              </a:lnSpc>
              <a:buSzPct val="100000"/>
              <a:buChar char="•"/>
            </a:pPr>
            <a:r>
              <a:rPr lang="en-US" sz="1500" dirty="0">
                <a:solidFill>
                  <a:srgbClr val="14213D"/>
                </a:solidFill>
                <a:latin typeface="Helvetica" pitchFamily="34" charset="0"/>
                <a:ea typeface="Helvetica" pitchFamily="34" charset="-122"/>
                <a:cs typeface="Helvetica" pitchFamily="34" charset="-120"/>
              </a:rPr>
              <a:t>Does not model correlations between variables</a:t>
            </a:r>
            <a:endParaRPr lang="en-US" sz="1500" dirty="0"/>
          </a:p>
          <a:p>
            <a:pPr algn="l" marL="170180" indent="-170180">
              <a:lnSpc>
                <a:spcPts val="2100"/>
              </a:lnSpc>
              <a:buSzPct val="100000"/>
              <a:buChar char="•"/>
            </a:pPr>
            <a:r>
              <a:rPr lang="en-US" sz="1500" dirty="0">
                <a:solidFill>
                  <a:srgbClr val="14213D"/>
                </a:solidFill>
                <a:latin typeface="Helvetica" pitchFamily="34" charset="0"/>
                <a:ea typeface="Helvetica" pitchFamily="34" charset="-122"/>
                <a:cs typeface="Helvetica" pitchFamily="34" charset="-120"/>
              </a:rPr>
              <a:t>No online or federated updates yet</a:t>
            </a:r>
            <a:endParaRPr lang="en-US" sz="1500" dirty="0"/>
          </a:p>
        </p:txBody>
      </p:sp>
      <p:sp>
        <p:nvSpPr>
          <p:cNvPr id="11" name="Shape 9"/>
          <p:cNvSpPr/>
          <p:nvPr/>
        </p:nvSpPr>
        <p:spPr>
          <a:xfrm>
            <a:off x="7975600" y="1285242"/>
            <a:ext cx="3403600" cy="3004820"/>
          </a:xfrm>
          <a:prstGeom prst="roundRect">
            <a:avLst>
              <a:gd name="adj" fmla="val 3381"/>
            </a:avLst>
          </a:prstGeom>
          <a:solidFill>
            <a:srgbClr val="FFFFFF"/>
          </a:solidFill>
          <a:ln/>
        </p:spPr>
      </p:sp>
      <p:sp>
        <p:nvSpPr>
          <p:cNvPr id="12" name="Shape 10"/>
          <p:cNvSpPr/>
          <p:nvPr/>
        </p:nvSpPr>
        <p:spPr>
          <a:xfrm>
            <a:off x="7975600" y="1285242"/>
            <a:ext cx="3403600" cy="3004820"/>
          </a:xfrm>
          <a:custGeom>
            <a:avLst/>
            <a:gdLst/>
            <a:ahLst/>
            <a:cxnLst/>
            <a:rect l="l" t="t" r="r" b="b"/>
            <a:pathLst>
              <a:path w="3403600" h="3004820">
                <a:moveTo>
                  <a:pt x="0" y="101600"/>
                </a:moveTo>
                <a:lnTo>
                  <a:pt x="0" y="101600"/>
                </a:lnTo>
                <a:arcTo hR="101600" wR="101600" stAng="10800000" swAng="5400000"/>
                <a:lnTo>
                  <a:pt x="3302000" y="0"/>
                </a:lnTo>
                <a:arcTo hR="101600" wR="101600" stAng="16200000" swAng="5400000"/>
                <a:lnTo>
                  <a:pt x="3403600" y="101600"/>
                </a:lnTo>
                <a:arcTo hR="50800" wR="101600" stAng="0" swAng="-5400000"/>
                <a:lnTo>
                  <a:pt x="101600" y="50800"/>
                </a:lnTo>
                <a:arcTo hR="50800" wR="101600" stAng="16200000" swAng="-5400000"/>
                <a:close/>
              </a:path>
            </a:pathLst>
          </a:custGeom>
          <a:solidFill>
            <a:srgbClr val="2F6FDB"/>
          </a:solidFill>
          <a:ln/>
        </p:spPr>
      </p:sp>
      <p:sp>
        <p:nvSpPr>
          <p:cNvPr id="13" name="Text 11"/>
          <p:cNvSpPr/>
          <p:nvPr/>
        </p:nvSpPr>
        <p:spPr>
          <a:xfrm>
            <a:off x="8204200" y="1564642"/>
            <a:ext cx="303479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F6FDB"/>
                </a:solidFill>
                <a:latin typeface="Helvetica" pitchFamily="34" charset="0"/>
                <a:ea typeface="Helvetica" pitchFamily="34" charset="-122"/>
                <a:cs typeface="Helvetica" pitchFamily="34" charset="-120"/>
              </a:rPr>
              <a:t>Future work</a:t>
            </a:r>
            <a:endParaRPr lang="en-US" sz="1800" dirty="0"/>
          </a:p>
        </p:txBody>
      </p:sp>
      <p:sp>
        <p:nvSpPr>
          <p:cNvPr id="14" name="Text 12"/>
          <p:cNvSpPr/>
          <p:nvPr/>
        </p:nvSpPr>
        <p:spPr>
          <a:xfrm>
            <a:off x="8262620" y="1927864"/>
            <a:ext cx="2969514" cy="1358900"/>
          </a:xfrm>
          <a:prstGeom prst="rect">
            <a:avLst/>
          </a:prstGeom>
          <a:noFill/>
          <a:ln/>
        </p:spPr>
        <p:txBody>
          <a:bodyPr wrap="square" lIns="0" tIns="0" rIns="0" bIns="0" rtlCol="0" anchor="t">
            <a:normAutofit/>
          </a:bodyPr>
          <a:lstStyle/>
          <a:p>
            <a:pPr algn="l" marL="170180" indent="-170180">
              <a:lnSpc>
                <a:spcPts val="2100"/>
              </a:lnSpc>
              <a:buSzPct val="100000"/>
              <a:buChar char="•"/>
            </a:pPr>
            <a:r>
              <a:rPr lang="en-US" sz="1500" dirty="0">
                <a:solidFill>
                  <a:srgbClr val="14213D"/>
                </a:solidFill>
                <a:latin typeface="Helvetica" pitchFamily="34" charset="0"/>
                <a:ea typeface="Helvetica" pitchFamily="34" charset="-122"/>
                <a:cs typeface="Helvetica" pitchFamily="34" charset="-120"/>
              </a:rPr>
              <a:t>Time-frequency learning, pruning, quantization</a:t>
            </a:r>
            <a:endParaRPr lang="en-US" sz="1500" dirty="0"/>
          </a:p>
          <a:p>
            <a:pPr algn="l" marL="170180" indent="-170180">
              <a:lnSpc>
                <a:spcPts val="2100"/>
              </a:lnSpc>
              <a:buSzPct val="100000"/>
              <a:buChar char="•"/>
            </a:pPr>
            <a:r>
              <a:rPr lang="en-US" sz="1500" dirty="0">
                <a:solidFill>
                  <a:srgbClr val="14213D"/>
                </a:solidFill>
                <a:latin typeface="Helvetica" pitchFamily="34" charset="0"/>
                <a:ea typeface="Helvetica" pitchFamily="34" charset="-122"/>
                <a:cs typeface="Helvetica" pitchFamily="34" charset="-120"/>
              </a:rPr>
              <a:t>Spatiotemporal joint learning</a:t>
            </a:r>
            <a:endParaRPr lang="en-US" sz="1500" dirty="0"/>
          </a:p>
          <a:p>
            <a:pPr algn="l" marL="170180" indent="-170180">
              <a:lnSpc>
                <a:spcPts val="2100"/>
              </a:lnSpc>
              <a:buSzPct val="100000"/>
              <a:buChar char="•"/>
            </a:pPr>
            <a:r>
              <a:rPr lang="en-US" sz="1500" dirty="0">
                <a:solidFill>
                  <a:srgbClr val="14213D"/>
                </a:solidFill>
                <a:latin typeface="Helvetica" pitchFamily="34" charset="0"/>
                <a:ea typeface="Helvetica" pitchFamily="34" charset="-122"/>
                <a:cs typeface="Helvetica" pitchFamily="34" charset="-120"/>
              </a:rPr>
              <a:t>Real-time online, federated system</a:t>
            </a:r>
            <a:endParaRPr lang="en-US" sz="1500" dirty="0"/>
          </a:p>
        </p:txBody>
      </p:sp>
      <p:sp>
        <p:nvSpPr>
          <p:cNvPr id="15" name="Text 13"/>
          <p:cNvSpPr/>
          <p:nvPr/>
        </p:nvSpPr>
        <p:spPr>
          <a:xfrm>
            <a:off x="812800" y="4518664"/>
            <a:ext cx="10883392"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470"/>
                </a:solidFill>
                <a:latin typeface="Helvetica" pitchFamily="34" charset="0"/>
                <a:ea typeface="Helvetica" pitchFamily="34" charset="-122"/>
                <a:cs typeface="Helvetica" pitchFamily="34" charset="-120"/>
              </a:rPr>
              <a:t>Code: github.com/infogroup502/LFTSAD</a:t>
            </a:r>
            <a:endParaRPr lang="en-US" sz="1400" dirty="0"/>
          </a:p>
        </p:txBody>
      </p:sp>
    </p:spTree>
  </p:cSld>
  <p:clrMapOvr>
    <a:masterClrMapping/>
  </p:clrMapOvr>
</p:sld>
</file>

<file path=ppt/theme/theme1.xml><?xml version="1.0" encoding="utf-8"?>
<a:theme xmlns:a="http://schemas.openxmlformats.org/drawingml/2006/main" name="LFTSAD: Lightweight &amp; Fast Time-Series Anomaly Detection">
  <a:themeElements>
    <a:clrScheme name="LFTSAD: Lightweight &amp; Fast Time-Series Anomaly Detection">
      <a:dk1>
        <a:srgbClr val="14213D"/>
      </a:dk1>
      <a:lt1>
        <a:srgbClr val="F6F4EF"/>
      </a:lt1>
      <a:dk2>
        <a:srgbClr val="4D566A"/>
      </a:dk2>
      <a:lt2>
        <a:srgbClr val="DFDFDD"/>
      </a:lt2>
      <a:accent1>
        <a:srgbClr val="E8743B"/>
      </a:accent1>
      <a:accent2>
        <a:srgbClr val="2F6FDB"/>
      </a:accent2>
      <a:accent3>
        <a:srgbClr val="0F9D8A"/>
      </a:accent3>
      <a:accent4>
        <a:srgbClr val="BCD3F7"/>
      </a:accent4>
      <a:accent5>
        <a:srgbClr val="F6C6AE"/>
      </a:accent5>
      <a:accent6>
        <a:srgbClr val="9AA6C2"/>
      </a:accent6>
      <a:hlink>
        <a:srgbClr val="0563C1"/>
      </a:hlink>
      <a:folHlink>
        <a:srgbClr val="954F72"/>
      </a:folHlink>
    </a:clrScheme>
    <a:fontScheme name="LFTSAD: Lightweight &amp; Fast Time-Series Anomaly Detection">
      <a:majorFont>
        <a:latin typeface="Helvetic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Helvetic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LFTSAD: Lightweight &amp; Fast Time-Series Anomaly Detection</dc:title>
  <dc:subject/>
  <dc:creator/>
  <cp:lastModifiedBy/>
  <cp:revision>1</cp:revision>
  <dcterms:created xsi:type="dcterms:W3CDTF">2026-10-25T09:16:40Z</dcterms:created>
  <dcterms:modified xsi:type="dcterms:W3CDTF">2026-10-25T09:16:40Z</dcterms:modified>
</cp:coreProperties>
</file>