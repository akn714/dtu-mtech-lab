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the authors test every common way to build a text classifier (prompting LLMs, few-shot training, synthetic data, full training) on 32 datasets in 8 languages, to tell practitioners what to use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Labeled data is expensive, so people hope LLMs can classify with no training. The paper checks that hope fairly, across languages and with open models, not just English and GPT-4.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tasks go from easy-looking (3 classes) to hard (60 classes). That spread lets the authors see how the number of labels changes which method wins. 7 of 8 languages are Indo-European.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same datasets go into four different ways of building a classifier, and everything is compared on accuracy. Approach 4 is the reference point: what you get if you have lots of labeled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Zero-shot means no training examples at all. Few-shot means a tiny handful. Synthetic means an LLM invents the training set. Full data means the original human-labeled training set, thousands of examples per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 is simple: write a text in language X, in the style of Y, belonging to category Z, under 50 words. Using three LLMs gives more varied data, and two of them run free on a laptop, which keeps costs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chart by task. On sentiment the LLM is as good as training. As the label count grows, trained models pull ahead. Few-shot FastFit and synthetic data sit in between and often beat zero-shot. Bars are averages I computed from the paper's appendix tables, rounded.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= accuracy of the best language minus the worst, averaged over the four tasks. Prompting and synthetic data vary least. Likely causes the authors suggest: weaker multilingual embeddings and different scripts and writing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take-home slide. Labeled data still wins when you have it; LLMs are most useful for simple, subjective tasks like sentiment, or as data generators when labels are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scope: results are for short texts and mostly Indo-European languages. The authors note the small open LLMs should not be read as a verdict against open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3327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PAPER OVERVIEW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36190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Text Classification in the LLM Era: Where Do We Stand?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01955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we still need to train classifiers, or can we just prompt a big model?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59359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Vajjala &amp; Shimangaud · National Research Council Canada / McGill · arXiv 2502.11830 (Feb 2025)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this paper: gaps and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5"/>
            <a:ext cx="5175250" cy="43218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0"/>
            <a:ext cx="490799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gaps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8362" y="2072640"/>
            <a:ext cx="4803089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LLM classification studies use English only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use proprietary models (GPT-3.5/4), few open LLMs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Zero-shot, few-shot, synthetic data and full training are rarely compared together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Few tests with many labels (50+ classes)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17015"/>
            <a:ext cx="5175250" cy="43218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722120"/>
            <a:ext cx="490799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A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research questions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2157" y="2072640"/>
            <a:ext cx="4844094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723" indent="-197723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Zero-shot LLM vs a classifier trained on all data?</a:t>
            </a:r>
            <a:endParaRPr lang="en-US" sz="1400" dirty="0"/>
          </a:p>
          <a:p>
            <a:pPr algn="l" marL="197723" indent="-197723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few-shot fine-tuning beat zero-shot?</a:t>
            </a:r>
            <a:endParaRPr lang="en-US" sz="1400" dirty="0"/>
          </a:p>
          <a:p>
            <a:pPr algn="l" marL="197723" indent="-197723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a synthetic-data classifier beat zero-shot?</a:t>
            </a:r>
            <a:endParaRPr lang="en-US" sz="1400" dirty="0"/>
          </a:p>
          <a:p>
            <a:pPr algn="l" marL="197723" indent="-197723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fine-tuning an LLM the way to go?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Setup: 4 datasets × 8 languages = 32 datasets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1"/>
          <a:ext cx="10556240" cy="241554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Dataset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Classes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Text type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SENTIMENT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Positive / negative / neutral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Tweets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TAXI1500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Topic of a sentence (faith, sin, grace…)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Bible sentences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SCENARIO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Domain of a request (music, alarm…)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18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Voice commands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INTENT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Exact user intent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Voice commands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5975" y="4196716"/>
            <a:ext cx="10560050" cy="676910"/>
          </a:xfrm>
          <a:prstGeom prst="roundRect">
            <a:avLst>
              <a:gd name="adj" fmla="val 14540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1080" y="4413250"/>
            <a:ext cx="122507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46154" y="4401820"/>
            <a:ext cx="7483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Arabic · English · French · German · Hindi · Italian · Portuguese · Spanish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5130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Metric: accuracy. Models are trained per language, on top of multilingual pre-trained models.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Architecture: the overall study design</a:t>
            </a:r>
            <a:endParaRPr lang="en-US" sz="3200" dirty="0"/>
          </a:p>
        </p:txBody>
      </p:sp>
      <p:pic>
        <p:nvPicPr>
          <p:cNvPr id="3" name="Image 0" descr="Study design: 32 datasets feed four classification approaches, whose accuracy is compared">    </p:cNvPr>
          <p:cNvPicPr>
            <a:picLocks noChangeAspect="1"/>
          </p:cNvPicPr>
          <p:nvPr/>
        </p:nvPicPr>
        <p:blipFill>
          <a:blip r:embed="rId1"/>
          <a:srcRect l="0" r="0" t="-17" b="-17"/>
          <a:stretch/>
        </p:blipFill>
        <p:spPr>
          <a:xfrm>
            <a:off x="812800" y="151384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each approach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5175250" cy="143891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1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· Zero-shot prompting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1080" y="2057400"/>
            <a:ext cx="490799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an LLM to name the label. Models: GPT-4, Qwen2.5-7B, Aya-23-8B, Aya-Expanse-8B. The Instructor library forces a valid label; extra explanations count as errors.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517014"/>
            <a:ext cx="5175250" cy="143891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722121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85A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· Few-shot (FastFit)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5880" y="2057400"/>
            <a:ext cx="490799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10 labeled texts per class. Contrastive learning plus token similarity teaches the model to match texts to labels. Trains in 5–15 minutes on a laptop.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3165475"/>
            <a:ext cx="5175250" cy="143891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080" y="3370582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6A4FC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· Synthetic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1080" y="3705861"/>
            <a:ext cx="490799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GPT-4, Qwen and Aya-Expanse each write labeled examples from one prompt. A normal classifier is then trained on that generated data only.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0775" y="3165475"/>
            <a:ext cx="5175250" cy="143891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880" y="3370582"/>
            <a:ext cx="490799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7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· Full-data classifiers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5880" y="3705861"/>
            <a:ext cx="490799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Logistic regression on gte-multilingual embeddings, fine-tuned multilingual BERT, and instruction-tuned Qwen2.5-7B (SFT). Trained on real or synthetic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Architecture: synthetic data from several LLMs</a:t>
            </a:r>
            <a:endParaRPr lang="en-US" sz="3200" dirty="0"/>
          </a:p>
        </p:txBody>
      </p:sp>
      <p:pic>
        <p:nvPicPr>
          <p:cNvPr id="3" name="Image 0" descr="One prompt goes to GPT-4, Qwen2.5-7B and Aya-Expanse-8B; outputs are merged into a synthetic training set for a classifier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12800" y="1513839"/>
            <a:ext cx="10566400" cy="241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975" y="4184014"/>
            <a:ext cx="3414157" cy="855980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7" tIns="176277" rIns="86159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Qwen</a:t>
            </a: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was the best single source with few labels (Twitter 0.51, Taxi 0.43)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388882" y="4184014"/>
            <a:ext cx="3414236" cy="855980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7" tIns="176277" rIns="86156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GPT-4</a:t>
            </a: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was steady everywhere and best with many labels (Intent 0.53)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61868" y="4184014"/>
            <a:ext cx="3414157" cy="855980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8" tIns="176277" rIns="86159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Mixing all three</a:t>
            </a: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beat any single source, and two are small local models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Results: accuracy by approach (avg. of 8 languages)</a:t>
            </a:r>
            <a:endParaRPr lang="en-US" sz="3200" dirty="0"/>
          </a:p>
        </p:txBody>
      </p:sp>
      <p:pic>
        <p:nvPicPr>
          <p:cNvPr id="3" name="Image 0" descr="Grouped bar chart of accuracy percent for GPT-4 zero-shot, FastFit, synthetic plus logistic regression and full-data logistic regression on four tasks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812800" y="1960882"/>
            <a:ext cx="6667500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88275" y="2296161"/>
            <a:ext cx="3587750" cy="855980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8" tIns="176277" rIns="80951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Few classes:</a:t>
            </a: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zero-shot GPT-4 beats full-data training on sentiment (66 vs 62)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88275" y="3310889"/>
            <a:ext cx="3587750" cy="855980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8" tIns="176277" rIns="80951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classes:</a:t>
            </a: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full data wins big (Intent 82 vs 66)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88275" y="4325621"/>
            <a:ext cx="3587750" cy="855980"/>
          </a:xfrm>
          <a:prstGeom prst="roundRect">
            <a:avLst>
              <a:gd name="adj" fmla="val 1149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8" tIns="176277" rIns="80951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examples per class</a:t>
            </a: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match or beat GPT-4 on 3 of 4 tasks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Language gaps: best vs worst language</a:t>
            </a:r>
            <a:endParaRPr lang="en-US" sz="3200" dirty="0"/>
          </a:p>
        </p:txBody>
      </p:sp>
      <p:pic>
        <p:nvPicPr>
          <p:cNvPr id="3" name="Image 0" descr="Average accuracy gap between best and worst language per method: GPT-4 zero-shot 13, synthetic logistic regression 17, FastFit 22, BERT real data 23, logistic regression real data 29 percentage points">    </p:cNvPr>
          <p:cNvPicPr>
            <a:picLocks noChangeAspect="1"/>
          </p:cNvPicPr>
          <p:nvPr/>
        </p:nvPicPr>
        <p:blipFill>
          <a:blip r:embed="rId1"/>
          <a:srcRect l="0" r="0" t="-28" b="-28"/>
          <a:stretch/>
        </p:blipFill>
        <p:spPr>
          <a:xfrm>
            <a:off x="812800" y="1513839"/>
            <a:ext cx="6858000" cy="266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8775" y="1689100"/>
            <a:ext cx="3397250" cy="1078865"/>
          </a:xfrm>
          <a:prstGeom prst="roundRect">
            <a:avLst>
              <a:gd name="adj" fmla="val 9123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8" tIns="176277" rIns="86666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model, big swings: BERT on Taxi1500 scores 77% in English but 35% in Italian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78775" y="2926714"/>
            <a:ext cx="3397250" cy="1078865"/>
          </a:xfrm>
          <a:prstGeom prst="roundRect">
            <a:avLst>
              <a:gd name="adj" fmla="val 9123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  <p:txBody>
          <a:bodyPr wrap="square" lIns="176278" tIns="176277" rIns="86666" bIns="150877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Arabic and Hindi are often weakest; they also cost up to 3× more tokens to generate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Guidelines for practitioners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2"/>
            <a:ext cx="5181600" cy="1239520"/>
          </a:xfrm>
          <a:prstGeom prst="roundRect">
            <a:avLst>
              <a:gd name="adj" fmla="val 8197"/>
            </a:avLst>
          </a:prstGeom>
          <a:solidFill>
            <a:srgbClr val="1F2F52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17042"/>
            <a:ext cx="49184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· Sentiment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6000" y="2052321"/>
            <a:ext cx="491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Just prompt an LLM; it beats task-specific 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7600" y="1513842"/>
            <a:ext cx="5181600" cy="1239520"/>
          </a:xfrm>
          <a:prstGeom prst="roundRect">
            <a:avLst>
              <a:gd name="adj" fmla="val 8197"/>
            </a:avLst>
          </a:prstGeom>
          <a:solidFill>
            <a:srgbClr val="1F2F5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17042"/>
            <a:ext cx="49184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· Little labeled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052321"/>
            <a:ext cx="491845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Label about 10 per class and run FastFit; it beats zero-shot elsewhere.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2956564"/>
            <a:ext cx="5181600" cy="1239520"/>
          </a:xfrm>
          <a:prstGeom prst="roundRect">
            <a:avLst>
              <a:gd name="adj" fmla="val 8197"/>
            </a:avLst>
          </a:prstGeom>
          <a:solidFill>
            <a:srgbClr val="1F2F52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159764"/>
            <a:ext cx="49184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· No labeled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16000" y="3495042"/>
            <a:ext cx="491845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synthetic data from several LLMs; it beats open-LLM zero-shot.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7600" y="2956564"/>
            <a:ext cx="5181600" cy="1239520"/>
          </a:xfrm>
          <a:prstGeom prst="roundRect">
            <a:avLst>
              <a:gd name="adj" fmla="val 8197"/>
            </a:avLst>
          </a:prstGeom>
          <a:solidFill>
            <a:srgbClr val="1F2F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159764"/>
            <a:ext cx="491845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A6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· Plenty of labeled 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3495042"/>
            <a:ext cx="491845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 on it. Fine-tuned LLMs win with many classes; logistic regression is a cheap strong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 and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5175250" cy="3801110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1"/>
            <a:ext cx="490799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A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8362" y="2072642"/>
            <a:ext cx="4803089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prompt, short texts only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of 8 languages are Indo-European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LLMs are small (7–8B) next to GPT-4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runs, no quality review of synthetic text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17017"/>
            <a:ext cx="5175250" cy="3801110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722121"/>
            <a:ext cx="490799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6CB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03162" y="2072642"/>
            <a:ext cx="4803089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More languages and language families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Multi-label datasets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Longer documents</a:t>
            </a:r>
            <a:endParaRPr lang="en-US" sz="1400" dirty="0"/>
          </a:p>
          <a:p>
            <a:pPr algn="l" marL="156718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Few-shot prompting and larger open LLMs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Bottom line: labeled data still matters; LLMs are a strong shortcut when labels are scarce.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t Classification in the LLM Era: Where Do We Stand?">
  <a:themeElements>
    <a:clrScheme name="Text Classification in the LLM Era: Where Do We Stand?">
      <a:dk1>
        <a:srgbClr val="14213D"/>
      </a:dk1>
      <a:lt1>
        <a:srgbClr val="F7F5EF"/>
      </a:lt1>
      <a:dk2>
        <a:srgbClr val="4D566A"/>
      </a:dk2>
      <a:lt2>
        <a:srgbClr val="E0E0DD"/>
      </a:lt2>
      <a:accent1>
        <a:srgbClr val="F2A65A"/>
      </a:accent1>
      <a:accent2>
        <a:srgbClr val="2B6CB0"/>
      </a:accent2>
      <a:accent3>
        <a:srgbClr val="B85A0C"/>
      </a:accent3>
      <a:accent4>
        <a:srgbClr val="6A4FC0"/>
      </a:accent4>
      <a:accent5>
        <a:srgbClr val="1F7A5C"/>
      </a:accent5>
      <a:accent6>
        <a:srgbClr val="C9CFDB"/>
      </a:accent6>
      <a:hlink>
        <a:srgbClr val="0563C1"/>
      </a:hlink>
      <a:folHlink>
        <a:srgbClr val="954F72"/>
      </a:folHlink>
    </a:clrScheme>
    <a:fontScheme name="Text Classification in the LLM Era: Where Do We Stand?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 in the LLM Era: Where Do We Stand?</dc:title>
  <dc:subject/>
  <dc:creator/>
  <cp:lastModifiedBy/>
  <cp:revision>1</cp:revision>
  <dcterms:created xsi:type="dcterms:W3CDTF">2026-10-25T09:37:46Z</dcterms:created>
  <dcterms:modified xsi:type="dcterms:W3CDTF">2026-10-25T09:37:46Z</dcterms:modified>
</cp:coreProperties>
</file>